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76" r:id="rId3"/>
    <p:sldId id="278" r:id="rId4"/>
    <p:sldId id="286" r:id="rId5"/>
    <p:sldId id="316" r:id="rId6"/>
    <p:sldId id="320" r:id="rId7"/>
    <p:sldId id="319" r:id="rId8"/>
    <p:sldId id="318" r:id="rId9"/>
    <p:sldId id="281" r:id="rId10"/>
    <p:sldId id="323" r:id="rId11"/>
    <p:sldId id="304" r:id="rId12"/>
    <p:sldId id="303" r:id="rId13"/>
    <p:sldId id="301" r:id="rId14"/>
    <p:sldId id="314" r:id="rId15"/>
    <p:sldId id="322" r:id="rId16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1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008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947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366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972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339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17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132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032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847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911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435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4685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F92653-5D6D-47E6-8744-0DAF76E04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800102" y="960594"/>
            <a:ext cx="5828114" cy="4936812"/>
          </a:xfrm>
        </p:spPr>
        <p:txBody>
          <a:bodyPr anchor="ctr">
            <a:normAutofit/>
          </a:bodyPr>
          <a:lstStyle/>
          <a:p>
            <a:pPr algn="r"/>
            <a:r>
              <a:rPr lang="hu-HU" sz="6000">
                <a:ea typeface="+mj-lt"/>
                <a:cs typeface="+mj-lt"/>
              </a:rPr>
              <a:t>ASCENSION</a:t>
            </a:r>
            <a:endParaRPr lang="hu-HU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8002185" y="1390650"/>
            <a:ext cx="3019423" cy="4076700"/>
          </a:xfrm>
        </p:spPr>
        <p:txBody>
          <a:bodyPr anchor="ctr">
            <a:normAutofit/>
          </a:bodyPr>
          <a:lstStyle/>
          <a:p>
            <a:r>
              <a:rPr lang="hu-HU" sz="2200" err="1">
                <a:ea typeface="+mn-lt"/>
                <a:cs typeface="+mn-lt"/>
              </a:rPr>
              <a:t>Looksmaxxing</a:t>
            </a:r>
            <a:r>
              <a:rPr lang="hu-HU" sz="2200">
                <a:ea typeface="+mn-lt"/>
                <a:cs typeface="+mn-lt"/>
              </a:rPr>
              <a:t> &amp; Önfejlesztő Platform</a:t>
            </a:r>
            <a:endParaRPr lang="hu-HU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CA98CE3-81A7-4FFE-A047-9AA65998D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315200" y="1733549"/>
            <a:ext cx="0" cy="3390901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zövegdoboz 3">
            <a:extLst>
              <a:ext uri="{FF2B5EF4-FFF2-40B4-BE49-F238E27FC236}">
                <a16:creationId xmlns:a16="http://schemas.microsoft.com/office/drawing/2014/main" id="{FA170E9D-AAB5-28A2-1AAD-6F39D4BBBD95}"/>
              </a:ext>
            </a:extLst>
          </p:cNvPr>
          <p:cNvSpPr txBox="1"/>
          <p:nvPr/>
        </p:nvSpPr>
        <p:spPr>
          <a:xfrm>
            <a:off x="9068879" y="5667270"/>
            <a:ext cx="3125611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/>
              <a:t>Fejlesztők: Müller Zsolt István, Csillik Gergely, Rajna Torda Imre</a:t>
            </a:r>
          </a:p>
        </p:txBody>
      </p:sp>
    </p:spTree>
    <p:extLst>
      <p:ext uri="{BB962C8B-B14F-4D97-AF65-F5344CB8AC3E}">
        <p14:creationId xmlns:p14="http://schemas.microsoft.com/office/powerpoint/2010/main" val="4266748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C83CE61-8A2D-1512-C4D8-3A8310CAB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>
                <a:ea typeface="+mj-lt"/>
                <a:cs typeface="+mj-lt"/>
              </a:rPr>
              <a:t>Miről szól ez a prezentáció?</a:t>
            </a:r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6D88F6E-DB57-87F5-3063-43C4EFCCF1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hu-HU">
                <a:ea typeface="+mn-lt"/>
                <a:cs typeface="+mn-lt"/>
              </a:rPr>
              <a:t>- Az oldal témája és célcsoportja</a:t>
            </a:r>
          </a:p>
          <a:p>
            <a:pPr>
              <a:buNone/>
            </a:pPr>
            <a:r>
              <a:rPr lang="hu-HU">
                <a:ea typeface="+mn-lt"/>
                <a:cs typeface="+mn-lt"/>
              </a:rPr>
              <a:t>- Funkciók felhasználói és szakmai nézőpontból</a:t>
            </a:r>
            <a:endParaRPr lang="hu-HU"/>
          </a:p>
          <a:p>
            <a:pPr>
              <a:buNone/>
            </a:pPr>
            <a:r>
              <a:rPr lang="hu-HU">
                <a:ea typeface="+mn-lt"/>
                <a:cs typeface="+mn-lt"/>
              </a:rPr>
              <a:t>- Fejlesztési menet lépésről lépésre</a:t>
            </a:r>
            <a:endParaRPr lang="hu-HU"/>
          </a:p>
          <a:p>
            <a:pPr>
              <a:buNone/>
            </a:pPr>
            <a:r>
              <a:rPr lang="hu-HU">
                <a:ea typeface="+mn-lt"/>
                <a:cs typeface="+mn-lt"/>
              </a:rPr>
              <a:t>- Programnyelvek és technológiák: miért ezeket használtuk</a:t>
            </a:r>
            <a:endParaRPr lang="hu-HU"/>
          </a:p>
          <a:p>
            <a:pPr>
              <a:buNone/>
            </a:pPr>
            <a:r>
              <a:rPr lang="hu-HU">
                <a:ea typeface="+mn-lt"/>
                <a:cs typeface="+mn-lt"/>
              </a:rPr>
              <a:t>- Továbbfejlesztési irányok</a:t>
            </a:r>
            <a:endParaRPr lang="hu-HU"/>
          </a:p>
          <a:p>
            <a:pPr marL="0" indent="0">
              <a:buNone/>
            </a:pPr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82608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470AE83-1138-1963-CB39-51ADAB40C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Téma ÉS CÉLCSOPORT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292EFC5-DCF0-D6CC-6140-B75CAB8EEA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hu-HU" dirty="0">
                <a:ea typeface="+mn-lt"/>
                <a:cs typeface="+mn-lt"/>
              </a:rPr>
              <a:t>16-40 év közötti felhasználók, akik tudatosan fejlesztenék magukat</a:t>
            </a:r>
            <a:endParaRPr lang="hu-HU" dirty="0"/>
          </a:p>
          <a:p>
            <a:pPr marL="0" indent="0">
              <a:buNone/>
            </a:pPr>
            <a:r>
              <a:rPr lang="hu-HU" dirty="0">
                <a:ea typeface="+mn-lt"/>
                <a:cs typeface="+mn-lt"/>
              </a:rPr>
              <a:t>Kezdők, akik iránymutatást keresnek</a:t>
            </a:r>
            <a:endParaRPr lang="hu-HU" dirty="0"/>
          </a:p>
          <a:p>
            <a:pPr marL="0" indent="0">
              <a:buNone/>
            </a:pPr>
            <a:r>
              <a:rPr lang="hu-HU" dirty="0">
                <a:ea typeface="+mn-lt"/>
                <a:cs typeface="+mn-lt"/>
              </a:rPr>
              <a:t>Haladók, akik mérni és optimalizálni akarnak</a:t>
            </a:r>
            <a:endParaRPr lang="hu-HU" dirty="0"/>
          </a:p>
          <a:p>
            <a:pPr marL="0" indent="0">
              <a:buNone/>
            </a:pPr>
            <a:endParaRPr lang="hu-HU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hu-HU" dirty="0">
                <a:ea typeface="+mn-lt"/>
                <a:cs typeface="+mn-lt"/>
              </a:rPr>
              <a:t>Sok felhasználó külön kezeli az edzést, táplálkozást, bőrápolást</a:t>
            </a:r>
          </a:p>
          <a:p>
            <a:pPr marL="0" indent="0">
              <a:buNone/>
            </a:pPr>
            <a:r>
              <a:rPr lang="hu-HU" dirty="0">
                <a:ea typeface="+mn-lt"/>
                <a:cs typeface="+mn-lt"/>
              </a:rPr>
              <a:t>A szétszórt appok miatt nehéz konzisztensen haladni</a:t>
            </a:r>
          </a:p>
          <a:p>
            <a:pPr marL="0" indent="0">
              <a:buNone/>
            </a:pPr>
            <a:r>
              <a:rPr lang="hu-HU" dirty="0">
                <a:ea typeface="+mn-lt"/>
                <a:cs typeface="+mn-lt"/>
              </a:rPr>
              <a:t>Nincs egységes napi rutin</a:t>
            </a:r>
          </a:p>
          <a:p>
            <a:pPr marL="0" indent="0">
              <a:buNone/>
            </a:pPr>
            <a:r>
              <a:rPr lang="hu-HU" dirty="0">
                <a:ea typeface="+mn-lt"/>
                <a:cs typeface="+mn-lt"/>
              </a:rPr>
              <a:t>Hogyan </a:t>
            </a:r>
            <a:r>
              <a:rPr lang="hu-HU" dirty="0" err="1">
                <a:ea typeface="+mn-lt"/>
                <a:cs typeface="+mn-lt"/>
              </a:rPr>
              <a:t>jott</a:t>
            </a:r>
            <a:r>
              <a:rPr lang="hu-HU" dirty="0">
                <a:ea typeface="+mn-lt"/>
                <a:cs typeface="+mn-lt"/>
              </a:rPr>
              <a:t> az </a:t>
            </a:r>
            <a:r>
              <a:rPr lang="hu-HU" dirty="0" err="1">
                <a:ea typeface="+mn-lt"/>
                <a:cs typeface="+mn-lt"/>
              </a:rPr>
              <a:t>otlet</a:t>
            </a:r>
            <a:endParaRPr lang="hu-HU" dirty="0">
              <a:ea typeface="+mn-lt"/>
              <a:cs typeface="+mn-lt"/>
            </a:endParaRPr>
          </a:p>
          <a:p>
            <a:pPr marL="0" indent="0">
              <a:buNone/>
            </a:pPr>
            <a:endParaRPr lang="hu-HU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19778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4CB6948-8607-8680-4FDB-796ED2A9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/>
              <a:t>A FEJLESZTÉS MENETE</a:t>
            </a:r>
          </a:p>
          <a:p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F0ABE20-1EE8-8E1B-894C-ED30A8BEAD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6" y="1713992"/>
            <a:ext cx="9167265" cy="4374896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hu-HU" sz="1100" b="1" dirty="0">
                <a:ea typeface="+mn-lt"/>
                <a:cs typeface="+mn-lt"/>
              </a:rPr>
              <a:t>Célok meghatározása:</a:t>
            </a:r>
            <a:endParaRPr lang="hu-HU" sz="1100" b="1" dirty="0"/>
          </a:p>
          <a:p>
            <a:pPr>
              <a:buNone/>
            </a:pPr>
            <a:r>
              <a:rPr lang="hu-HU" sz="1100" dirty="0">
                <a:ea typeface="+mn-lt"/>
                <a:cs typeface="+mn-lt"/>
              </a:rPr>
              <a:t>A projekt alapja az volt, hogy a Test, Arc és Mentál modulok egy közös rendszerben működjenek, ne különálló funkcióként.</a:t>
            </a:r>
            <a:endParaRPr lang="hu-HU" sz="1100" dirty="0"/>
          </a:p>
          <a:p>
            <a:pPr>
              <a:buNone/>
            </a:pPr>
            <a:r>
              <a:rPr lang="hu-HU" sz="1100" b="1" dirty="0">
                <a:ea typeface="+mn-lt"/>
                <a:cs typeface="+mn-lt"/>
              </a:rPr>
              <a:t>Moduláris felépítés:</a:t>
            </a:r>
            <a:endParaRPr lang="hu-HU" sz="1100" b="1" dirty="0"/>
          </a:p>
          <a:p>
            <a:pPr>
              <a:buNone/>
            </a:pPr>
            <a:r>
              <a:rPr lang="hu-HU" sz="1100" dirty="0">
                <a:ea typeface="+mn-lt"/>
                <a:cs typeface="+mn-lt"/>
              </a:rPr>
              <a:t>A fejlesztés külön frontend oldalakra és külön backend API területekre lett bontva, így a funkciók párhuzamosan és átláthatóan fejlődtek.</a:t>
            </a:r>
            <a:endParaRPr lang="hu-HU" sz="1100" dirty="0"/>
          </a:p>
          <a:p>
            <a:pPr>
              <a:buNone/>
            </a:pPr>
            <a:r>
              <a:rPr lang="hu-HU" sz="1100" b="1" dirty="0">
                <a:ea typeface="+mn-lt"/>
                <a:cs typeface="+mn-lt"/>
              </a:rPr>
              <a:t>Backend és adatmodell kialakítása:</a:t>
            </a:r>
            <a:endParaRPr lang="hu-HU" sz="1100" b="1" dirty="0"/>
          </a:p>
          <a:p>
            <a:pPr>
              <a:buNone/>
            </a:pPr>
            <a:r>
              <a:rPr lang="hu-HU" sz="1100" dirty="0">
                <a:ea typeface="+mn-lt"/>
                <a:cs typeface="+mn-lt"/>
              </a:rPr>
              <a:t>Először az adatfolyam és a mentési logika készült el, JWT-alapú hitelesítéssel, hogy minden adat biztonságosan </a:t>
            </a:r>
            <a:r>
              <a:rPr lang="hu-HU" sz="1100" dirty="0" err="1">
                <a:ea typeface="+mn-lt"/>
                <a:cs typeface="+mn-lt"/>
              </a:rPr>
              <a:t>userhez</a:t>
            </a:r>
            <a:r>
              <a:rPr lang="hu-HU" sz="1100" dirty="0">
                <a:ea typeface="+mn-lt"/>
                <a:cs typeface="+mn-lt"/>
              </a:rPr>
              <a:t> kötve maradjon.</a:t>
            </a:r>
            <a:endParaRPr lang="hu-HU" sz="1100" dirty="0"/>
          </a:p>
          <a:p>
            <a:pPr>
              <a:buNone/>
            </a:pPr>
            <a:r>
              <a:rPr lang="hu-HU" sz="1100" b="1" dirty="0">
                <a:ea typeface="+mn-lt"/>
                <a:cs typeface="+mn-lt"/>
              </a:rPr>
              <a:t>Frontend funkciók iteratív építése:</a:t>
            </a:r>
            <a:endParaRPr lang="hu-HU" sz="1100" b="1" dirty="0"/>
          </a:p>
          <a:p>
            <a:pPr>
              <a:buNone/>
            </a:pPr>
            <a:r>
              <a:rPr lang="hu-HU" sz="1100" dirty="0">
                <a:ea typeface="+mn-lt"/>
                <a:cs typeface="+mn-lt"/>
              </a:rPr>
              <a:t>Lépésenként haladt a megvalósítás: űrlapok és UI, számítási/ajánlási logika, majd API integráció és visszajelző állapotok.</a:t>
            </a:r>
            <a:endParaRPr lang="hu-HU" sz="1100" dirty="0"/>
          </a:p>
          <a:p>
            <a:pPr>
              <a:buNone/>
            </a:pPr>
            <a:r>
              <a:rPr lang="hu-HU" sz="1100" b="1" dirty="0">
                <a:ea typeface="+mn-lt"/>
                <a:cs typeface="+mn-lt"/>
              </a:rPr>
              <a:t>Napi követés bevezetése:</a:t>
            </a:r>
            <a:endParaRPr lang="hu-HU" sz="1100" b="1" dirty="0"/>
          </a:p>
          <a:p>
            <a:pPr>
              <a:buNone/>
            </a:pPr>
            <a:r>
              <a:rPr lang="hu-HU" sz="1100" dirty="0">
                <a:ea typeface="+mn-lt"/>
                <a:cs typeface="+mn-lt"/>
              </a:rPr>
              <a:t>Minden modulnál bekerült a napi cél és teljesítés mérése, százalékos visszajelzéssel, hogy a rendszer ne csak rögzítsen, hanem visszacsatolást is adjon.</a:t>
            </a:r>
            <a:endParaRPr lang="hu-HU" sz="1100" dirty="0"/>
          </a:p>
          <a:p>
            <a:pPr>
              <a:buNone/>
            </a:pPr>
            <a:r>
              <a:rPr lang="hu-HU" sz="1100" b="1" dirty="0">
                <a:ea typeface="+mn-lt"/>
                <a:cs typeface="+mn-lt"/>
              </a:rPr>
              <a:t>Profil összesítő integráció:</a:t>
            </a:r>
            <a:endParaRPr lang="hu-HU" sz="1100" b="1" dirty="0"/>
          </a:p>
          <a:p>
            <a:pPr>
              <a:buNone/>
            </a:pPr>
            <a:r>
              <a:rPr lang="hu-HU" sz="1100" dirty="0">
                <a:ea typeface="+mn-lt"/>
                <a:cs typeface="+mn-lt"/>
              </a:rPr>
              <a:t>A külön modulok eredményei a Profil fülben egyesültek, ahol egy helyen látható a táplálkozás, edzés, arcápolás és mentál haladás.</a:t>
            </a:r>
            <a:endParaRPr lang="hu-HU" sz="1100" dirty="0"/>
          </a:p>
          <a:p>
            <a:pPr>
              <a:buNone/>
            </a:pPr>
            <a:r>
              <a:rPr lang="hu-HU" sz="1100" b="1" dirty="0">
                <a:ea typeface="+mn-lt"/>
                <a:cs typeface="+mn-lt"/>
              </a:rPr>
              <a:t>Stabilizáció és finomhangolás:</a:t>
            </a:r>
            <a:endParaRPr lang="hu-HU" sz="1100" b="1" dirty="0"/>
          </a:p>
          <a:p>
            <a:pPr marL="0" indent="0">
              <a:buNone/>
            </a:pPr>
            <a:r>
              <a:rPr lang="hu-HU" sz="1100" dirty="0">
                <a:ea typeface="+mn-lt"/>
                <a:cs typeface="+mn-lt"/>
              </a:rPr>
              <a:t>A végső szakaszban a hangsúly a megbízhatóságon volt: hibaállapotok kezelése, adatfrissítés, </a:t>
            </a:r>
            <a:r>
              <a:rPr lang="hu-HU" sz="1100" dirty="0" err="1">
                <a:ea typeface="+mn-lt"/>
                <a:cs typeface="+mn-lt"/>
              </a:rPr>
              <a:t>reset</a:t>
            </a:r>
            <a:r>
              <a:rPr lang="hu-HU" sz="1100" dirty="0">
                <a:ea typeface="+mn-lt"/>
                <a:cs typeface="+mn-lt"/>
              </a:rPr>
              <a:t> lehetőségek és konzisztens felhasználói élmény.</a:t>
            </a:r>
            <a:endParaRPr lang="hu-HU" sz="1100" dirty="0"/>
          </a:p>
        </p:txBody>
      </p:sp>
    </p:spTree>
    <p:extLst>
      <p:ext uri="{BB962C8B-B14F-4D97-AF65-F5344CB8AC3E}">
        <p14:creationId xmlns:p14="http://schemas.microsoft.com/office/powerpoint/2010/main" val="243259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3E87665-422A-E112-0851-72CBB89EB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A programnyelvek és technológiák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F687C66-DC40-0AB1-6AD3-15DA95AF7B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755648"/>
            <a:ext cx="10691265" cy="4919472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>
              <a:buNone/>
            </a:pPr>
            <a:r>
              <a:rPr lang="hu-HU" b="1" dirty="0">
                <a:ea typeface="+mn-lt"/>
                <a:cs typeface="+mn-lt"/>
              </a:rPr>
              <a:t>C# + WPF</a:t>
            </a:r>
            <a:endParaRPr lang="hu-HU" b="1" dirty="0"/>
          </a:p>
          <a:p>
            <a:pPr>
              <a:buNone/>
            </a:pPr>
            <a:r>
              <a:rPr lang="hu-HU" dirty="0">
                <a:ea typeface="+mn-lt"/>
                <a:cs typeface="+mn-lt"/>
              </a:rPr>
              <a:t>Az </a:t>
            </a:r>
            <a:r>
              <a:rPr lang="hu-HU" dirty="0" err="1">
                <a:ea typeface="+mn-lt"/>
                <a:cs typeface="+mn-lt"/>
              </a:rPr>
              <a:t>admin</a:t>
            </a:r>
            <a:r>
              <a:rPr lang="hu-HU" dirty="0">
                <a:ea typeface="+mn-lt"/>
                <a:cs typeface="+mn-lt"/>
              </a:rPr>
              <a:t> panelhez gyors, stabil asztali megoldás kellett, ezért Windowsra ideális WPF-</a:t>
            </a:r>
            <a:r>
              <a:rPr lang="hu-HU" dirty="0" err="1">
                <a:ea typeface="+mn-lt"/>
                <a:cs typeface="+mn-lt"/>
              </a:rPr>
              <a:t>et</a:t>
            </a:r>
            <a:r>
              <a:rPr lang="hu-HU" dirty="0">
                <a:ea typeface="+mn-lt"/>
                <a:cs typeface="+mn-lt"/>
              </a:rPr>
              <a:t> választottunk.</a:t>
            </a:r>
            <a:endParaRPr lang="hu-HU" dirty="0"/>
          </a:p>
          <a:p>
            <a:pPr>
              <a:buNone/>
            </a:pPr>
            <a:r>
              <a:rPr lang="hu-HU" b="1" dirty="0">
                <a:ea typeface="+mn-lt"/>
                <a:cs typeface="+mn-lt"/>
              </a:rPr>
              <a:t>JavaScript + </a:t>
            </a:r>
            <a:r>
              <a:rPr lang="hu-HU" b="1" dirty="0" err="1">
                <a:ea typeface="+mn-lt"/>
                <a:cs typeface="+mn-lt"/>
              </a:rPr>
              <a:t>React</a:t>
            </a:r>
            <a:endParaRPr lang="hu-HU" b="1" dirty="0"/>
          </a:p>
          <a:p>
            <a:pPr>
              <a:buNone/>
            </a:pPr>
            <a:r>
              <a:rPr lang="hu-HU" dirty="0">
                <a:ea typeface="+mn-lt"/>
                <a:cs typeface="+mn-lt"/>
              </a:rPr>
              <a:t>A webes felülethez </a:t>
            </a:r>
            <a:r>
              <a:rPr lang="hu-HU" dirty="0" err="1">
                <a:ea typeface="+mn-lt"/>
                <a:cs typeface="+mn-lt"/>
              </a:rPr>
              <a:t>Reactet</a:t>
            </a:r>
            <a:r>
              <a:rPr lang="hu-HU" dirty="0">
                <a:ea typeface="+mn-lt"/>
                <a:cs typeface="+mn-lt"/>
              </a:rPr>
              <a:t> használtunk, mert jól moduláris (Test, Arc, Mentál), és gyors vele a fejlesztés.</a:t>
            </a:r>
            <a:endParaRPr lang="hu-HU" dirty="0"/>
          </a:p>
          <a:p>
            <a:pPr>
              <a:buNone/>
            </a:pPr>
            <a:r>
              <a:rPr lang="hu-HU" b="1" dirty="0" err="1">
                <a:ea typeface="+mn-lt"/>
                <a:cs typeface="+mn-lt"/>
              </a:rPr>
              <a:t>Vite</a:t>
            </a:r>
            <a:endParaRPr lang="hu-HU" b="1" dirty="0"/>
          </a:p>
          <a:p>
            <a:pPr>
              <a:buNone/>
            </a:pPr>
            <a:r>
              <a:rPr lang="hu-HU" dirty="0">
                <a:ea typeface="+mn-lt"/>
                <a:cs typeface="+mn-lt"/>
              </a:rPr>
              <a:t>Gyors </a:t>
            </a:r>
            <a:r>
              <a:rPr lang="hu-HU" dirty="0" err="1">
                <a:ea typeface="+mn-lt"/>
                <a:cs typeface="+mn-lt"/>
              </a:rPr>
              <a:t>dev</a:t>
            </a:r>
            <a:r>
              <a:rPr lang="hu-HU" dirty="0">
                <a:ea typeface="+mn-lt"/>
                <a:cs typeface="+mn-lt"/>
              </a:rPr>
              <a:t> környezetet és </a:t>
            </a:r>
            <a:r>
              <a:rPr lang="hu-HU" dirty="0" err="1">
                <a:ea typeface="+mn-lt"/>
                <a:cs typeface="+mn-lt"/>
              </a:rPr>
              <a:t>buildet</a:t>
            </a:r>
            <a:r>
              <a:rPr lang="hu-HU" dirty="0">
                <a:ea typeface="+mn-lt"/>
                <a:cs typeface="+mn-lt"/>
              </a:rPr>
              <a:t> ad, ezért hatékonyabb lett a frontend munka.</a:t>
            </a:r>
            <a:endParaRPr lang="hu-HU" dirty="0"/>
          </a:p>
          <a:p>
            <a:pPr>
              <a:buNone/>
            </a:pPr>
            <a:r>
              <a:rPr lang="hu-HU" b="1" dirty="0">
                <a:ea typeface="+mn-lt"/>
                <a:cs typeface="+mn-lt"/>
              </a:rPr>
              <a:t>Node.js + Express</a:t>
            </a:r>
            <a:endParaRPr lang="hu-HU" b="1" dirty="0"/>
          </a:p>
          <a:p>
            <a:pPr marL="0" indent="0">
              <a:buNone/>
            </a:pPr>
            <a:r>
              <a:rPr lang="hu-HU" dirty="0">
                <a:ea typeface="+mn-lt"/>
                <a:cs typeface="+mn-lt"/>
              </a:rPr>
              <a:t>Egyszerűen bővíthető REST API-t ad, jól illeszkedik a frontend </a:t>
            </a:r>
            <a:r>
              <a:rPr lang="hu-HU" dirty="0" err="1">
                <a:ea typeface="+mn-lt"/>
                <a:cs typeface="+mn-lt"/>
              </a:rPr>
              <a:t>fetch</a:t>
            </a:r>
            <a:r>
              <a:rPr lang="hu-HU" dirty="0">
                <a:ea typeface="+mn-lt"/>
                <a:cs typeface="+mn-lt"/>
              </a:rPr>
              <a:t> alapú működéséhez.</a:t>
            </a:r>
          </a:p>
          <a:p>
            <a:pPr>
              <a:buNone/>
            </a:pPr>
            <a:r>
              <a:rPr lang="hu-HU" b="1" dirty="0" err="1">
                <a:ea typeface="+mn-lt"/>
                <a:cs typeface="+mn-lt"/>
              </a:rPr>
              <a:t>MySQL</a:t>
            </a:r>
            <a:r>
              <a:rPr lang="hu-HU" b="1" dirty="0">
                <a:ea typeface="+mn-lt"/>
                <a:cs typeface="+mn-lt"/>
              </a:rPr>
              <a:t> + </a:t>
            </a:r>
            <a:r>
              <a:rPr lang="hu-HU" b="1" dirty="0" err="1">
                <a:ea typeface="+mn-lt"/>
                <a:cs typeface="+mn-lt"/>
              </a:rPr>
              <a:t>Sequelize</a:t>
            </a:r>
            <a:endParaRPr lang="hu-HU" dirty="0"/>
          </a:p>
          <a:p>
            <a:pPr>
              <a:buNone/>
            </a:pPr>
            <a:r>
              <a:rPr lang="hu-HU" dirty="0">
                <a:ea typeface="+mn-lt"/>
                <a:cs typeface="+mn-lt"/>
              </a:rPr>
              <a:t>Relációs adatmodellhez </a:t>
            </a:r>
            <a:r>
              <a:rPr lang="hu-HU" dirty="0" err="1">
                <a:ea typeface="+mn-lt"/>
                <a:cs typeface="+mn-lt"/>
              </a:rPr>
              <a:t>MySQL</a:t>
            </a:r>
            <a:r>
              <a:rPr lang="hu-HU" dirty="0">
                <a:ea typeface="+mn-lt"/>
                <a:cs typeface="+mn-lt"/>
              </a:rPr>
              <a:t> kellett, a </a:t>
            </a:r>
            <a:r>
              <a:rPr lang="hu-HU" dirty="0" err="1">
                <a:ea typeface="+mn-lt"/>
                <a:cs typeface="+mn-lt"/>
              </a:rPr>
              <a:t>Sequelize</a:t>
            </a:r>
            <a:r>
              <a:rPr lang="hu-HU" dirty="0">
                <a:ea typeface="+mn-lt"/>
                <a:cs typeface="+mn-lt"/>
              </a:rPr>
              <a:t> pedig könnyebbé tette a modellezést és lekérdezéseket.</a:t>
            </a:r>
            <a:endParaRPr lang="hu-HU" dirty="0"/>
          </a:p>
          <a:p>
            <a:pPr>
              <a:buNone/>
            </a:pPr>
            <a:r>
              <a:rPr lang="hu-HU" b="1" dirty="0">
                <a:ea typeface="+mn-lt"/>
                <a:cs typeface="+mn-lt"/>
              </a:rPr>
              <a:t>JWT + </a:t>
            </a:r>
            <a:r>
              <a:rPr lang="hu-HU" b="1" dirty="0" err="1">
                <a:ea typeface="+mn-lt"/>
                <a:cs typeface="+mn-lt"/>
              </a:rPr>
              <a:t>bcrypt</a:t>
            </a:r>
            <a:endParaRPr lang="hu-HU" dirty="0"/>
          </a:p>
          <a:p>
            <a:pPr>
              <a:buNone/>
            </a:pPr>
            <a:r>
              <a:rPr lang="hu-HU" dirty="0">
                <a:ea typeface="+mn-lt"/>
                <a:cs typeface="+mn-lt"/>
              </a:rPr>
              <a:t>Biztonság miatt: </a:t>
            </a:r>
            <a:r>
              <a:rPr lang="hu-HU" dirty="0" err="1">
                <a:ea typeface="+mn-lt"/>
                <a:cs typeface="+mn-lt"/>
              </a:rPr>
              <a:t>tokenes</a:t>
            </a:r>
            <a:r>
              <a:rPr lang="hu-HU" dirty="0">
                <a:ea typeface="+mn-lt"/>
                <a:cs typeface="+mn-lt"/>
              </a:rPr>
              <a:t> hitelesítés és biztonságos jelszó-</a:t>
            </a:r>
            <a:r>
              <a:rPr lang="hu-HU" dirty="0" err="1">
                <a:ea typeface="+mn-lt"/>
                <a:cs typeface="+mn-lt"/>
              </a:rPr>
              <a:t>hash</a:t>
            </a:r>
            <a:r>
              <a:rPr lang="hu-HU" dirty="0">
                <a:ea typeface="+mn-lt"/>
                <a:cs typeface="+mn-lt"/>
              </a:rPr>
              <a:t> tárolás.</a:t>
            </a:r>
            <a:endParaRPr lang="hu-HU" dirty="0"/>
          </a:p>
          <a:p>
            <a:pPr>
              <a:buNone/>
            </a:pPr>
            <a:r>
              <a:rPr lang="hu-HU" b="1" dirty="0" err="1">
                <a:ea typeface="+mn-lt"/>
                <a:cs typeface="+mn-lt"/>
              </a:rPr>
              <a:t>Swagger</a:t>
            </a:r>
            <a:r>
              <a:rPr lang="hu-HU" b="1" dirty="0">
                <a:ea typeface="+mn-lt"/>
                <a:cs typeface="+mn-lt"/>
              </a:rPr>
              <a:t> + tesztelés</a:t>
            </a:r>
            <a:endParaRPr lang="hu-HU" b="1" dirty="0"/>
          </a:p>
          <a:p>
            <a:pPr marL="0" indent="0">
              <a:buNone/>
            </a:pPr>
            <a:r>
              <a:rPr lang="hu-HU" dirty="0" err="1">
                <a:ea typeface="+mn-lt"/>
                <a:cs typeface="+mn-lt"/>
              </a:rPr>
              <a:t>Swaggerrel</a:t>
            </a:r>
            <a:r>
              <a:rPr lang="hu-HU" dirty="0">
                <a:ea typeface="+mn-lt"/>
                <a:cs typeface="+mn-lt"/>
              </a:rPr>
              <a:t> dokumentált és tesztelhető API-t kaptunk, a unit/integrációs tesztek pedig stabilabbá tették a fejlesztést.</a:t>
            </a:r>
            <a:endParaRPr lang="hu-HU" dirty="0"/>
          </a:p>
          <a:p>
            <a:pPr marL="0" indent="0">
              <a:buNone/>
            </a:pP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578584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D6892D5-90C5-50B8-D23E-F0D4659E6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A csapatmunka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4047457-ED7F-4D9D-431C-9398CABF4D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>
              <a:buNone/>
            </a:pPr>
            <a:r>
              <a:rPr lang="hu-HU" dirty="0">
                <a:ea typeface="+mn-lt"/>
                <a:cs typeface="+mn-lt"/>
              </a:rPr>
              <a:t>A csapatmunka </a:t>
            </a:r>
            <a:r>
              <a:rPr lang="hu-HU" b="1" dirty="0">
                <a:ea typeface="+mn-lt"/>
                <a:cs typeface="+mn-lt"/>
              </a:rPr>
              <a:t>GitHub</a:t>
            </a:r>
            <a:r>
              <a:rPr lang="hu-HU" dirty="0">
                <a:ea typeface="+mn-lt"/>
                <a:cs typeface="+mn-lt"/>
              </a:rPr>
              <a:t> és </a:t>
            </a:r>
            <a:r>
              <a:rPr lang="hu-HU" b="1" dirty="0" err="1">
                <a:ea typeface="+mn-lt"/>
                <a:cs typeface="+mn-lt"/>
              </a:rPr>
              <a:t>Trello</a:t>
            </a:r>
            <a:r>
              <a:rPr lang="hu-HU" dirty="0">
                <a:ea typeface="+mn-lt"/>
                <a:cs typeface="+mn-lt"/>
              </a:rPr>
              <a:t> köré épült.</a:t>
            </a:r>
            <a:endParaRPr lang="hu-HU" dirty="0"/>
          </a:p>
          <a:p>
            <a:pPr>
              <a:buNone/>
            </a:pPr>
            <a:endParaRPr lang="hu-HU" dirty="0"/>
          </a:p>
          <a:p>
            <a:pPr>
              <a:buNone/>
            </a:pPr>
            <a:r>
              <a:rPr lang="hu-HU" dirty="0">
                <a:ea typeface="+mn-lt"/>
                <a:cs typeface="+mn-lt"/>
              </a:rPr>
              <a:t>A kommunikáció és feladatkövetés </a:t>
            </a:r>
            <a:r>
              <a:rPr lang="hu-HU" dirty="0" err="1">
                <a:ea typeface="+mn-lt"/>
                <a:cs typeface="+mn-lt"/>
              </a:rPr>
              <a:t>Trellón</a:t>
            </a:r>
            <a:r>
              <a:rPr lang="hu-HU" dirty="0">
                <a:ea typeface="+mn-lt"/>
                <a:cs typeface="+mn-lt"/>
              </a:rPr>
              <a:t> ment: itt bontottuk a teendőket, állítottuk a prioritásokat, és követtük, ki min dolgozik.</a:t>
            </a:r>
            <a:endParaRPr lang="hu-HU" dirty="0"/>
          </a:p>
          <a:p>
            <a:pPr>
              <a:buNone/>
            </a:pPr>
            <a:r>
              <a:rPr lang="hu-HU" dirty="0">
                <a:ea typeface="+mn-lt"/>
                <a:cs typeface="+mn-lt"/>
              </a:rPr>
              <a:t>A fejlesztés GitHubon zajlott: külön </a:t>
            </a:r>
            <a:r>
              <a:rPr lang="hu-HU" dirty="0" err="1">
                <a:ea typeface="+mn-lt"/>
                <a:cs typeface="+mn-lt"/>
              </a:rPr>
              <a:t>brancheken</a:t>
            </a:r>
            <a:r>
              <a:rPr lang="hu-HU" dirty="0">
                <a:ea typeface="+mn-lt"/>
                <a:cs typeface="+mn-lt"/>
              </a:rPr>
              <a:t> dolgoztunk, a módosításokat összevezetés előtt átnéztük, így átlátható maradt a munka és csökkent az ütközés.</a:t>
            </a:r>
            <a:endParaRPr lang="hu-HU" dirty="0"/>
          </a:p>
          <a:p>
            <a:pPr>
              <a:buNone/>
            </a:pPr>
            <a:endParaRPr lang="hu-HU" dirty="0"/>
          </a:p>
          <a:p>
            <a:pPr marL="0" indent="0">
              <a:buNone/>
            </a:pPr>
            <a:r>
              <a:rPr lang="hu-HU" b="1" dirty="0">
                <a:ea typeface="+mn-lt"/>
                <a:cs typeface="+mn-lt"/>
              </a:rPr>
              <a:t>A két eszköz együtt jól működött: </a:t>
            </a:r>
            <a:r>
              <a:rPr lang="hu-HU" b="1" dirty="0" err="1">
                <a:ea typeface="+mn-lt"/>
                <a:cs typeface="+mn-lt"/>
              </a:rPr>
              <a:t>Trello</a:t>
            </a:r>
            <a:r>
              <a:rPr lang="hu-HU" b="1" dirty="0">
                <a:ea typeface="+mn-lt"/>
                <a:cs typeface="+mn-lt"/>
              </a:rPr>
              <a:t> a szervezést, GitHub a megvalósítást támogatta.</a:t>
            </a:r>
          </a:p>
          <a:p>
            <a:pPr marL="0" indent="0">
              <a:buNone/>
            </a:pPr>
            <a:endParaRPr lang="hu-HU" b="1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hu-HU" b="1" dirty="0" err="1">
                <a:ea typeface="+mn-lt"/>
                <a:cs typeface="+mn-lt"/>
              </a:rPr>
              <a:t>Scrum</a:t>
            </a:r>
            <a:r>
              <a:rPr lang="hu-HU" b="1" dirty="0">
                <a:ea typeface="+mn-lt"/>
                <a:cs typeface="+mn-lt"/>
              </a:rPr>
              <a:t> módszer</a:t>
            </a:r>
            <a:endParaRPr lang="hu-HU" b="1" dirty="0"/>
          </a:p>
        </p:txBody>
      </p:sp>
    </p:spTree>
    <p:extLst>
      <p:ext uri="{BB962C8B-B14F-4D97-AF65-F5344CB8AC3E}">
        <p14:creationId xmlns:p14="http://schemas.microsoft.com/office/powerpoint/2010/main" val="41411252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B7FD85DD-CDCD-0220-1272-8B7BDCFB1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780776" cy="1180210"/>
          </a:xfrm>
        </p:spPr>
        <p:txBody>
          <a:bodyPr>
            <a:normAutofit/>
          </a:bodyPr>
          <a:lstStyle/>
          <a:p>
            <a:r>
              <a:rPr lang="hu-HU"/>
              <a:t>A CSAPATMUNKA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E495065-8864-87FB-2BCC-254769963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Tartalom helye 3" descr="A képen szöveg, képernyőkép, szoftver, Multimédiás szoftver látható&#10;&#10;Lehet, hogy az AI által létrehozott tartalom helytelen.">
            <a:extLst>
              <a:ext uri="{FF2B5EF4-FFF2-40B4-BE49-F238E27FC236}">
                <a16:creationId xmlns:a16="http://schemas.microsoft.com/office/drawing/2014/main" id="{7B6ED4D9-7A5E-E12E-3F28-D2C9114FCE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47" y="2397719"/>
            <a:ext cx="5633145" cy="3080174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A0A3D2D-5F3C-2D64-E3BE-A3568E5D8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4960" y="2346960"/>
            <a:ext cx="4819903" cy="377545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Ez a GitHub </a:t>
            </a:r>
            <a:r>
              <a:rPr lang="en-US" dirty="0" err="1">
                <a:ea typeface="+mn-lt"/>
                <a:cs typeface="+mn-lt"/>
              </a:rPr>
              <a:t>nézet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jól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mutatja</a:t>
            </a:r>
            <a:r>
              <a:rPr lang="en-US" dirty="0">
                <a:ea typeface="+mn-lt"/>
                <a:cs typeface="+mn-lt"/>
              </a:rPr>
              <a:t> a </a:t>
            </a:r>
            <a:r>
              <a:rPr lang="en-US" dirty="0" err="1">
                <a:ea typeface="+mn-lt"/>
                <a:cs typeface="+mn-lt"/>
              </a:rPr>
              <a:t>projekt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technikai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együttműködését</a:t>
            </a:r>
            <a:r>
              <a:rPr lang="en-US" dirty="0">
                <a:ea typeface="+mn-lt"/>
                <a:cs typeface="+mn-lt"/>
              </a:rPr>
              <a:t>: </a:t>
            </a:r>
            <a:r>
              <a:rPr lang="en-US" dirty="0" err="1">
                <a:ea typeface="+mn-lt"/>
                <a:cs typeface="+mn-lt"/>
              </a:rPr>
              <a:t>egy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közös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repositoryban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kezeltük</a:t>
            </a:r>
            <a:r>
              <a:rPr lang="en-US" dirty="0">
                <a:ea typeface="+mn-lt"/>
                <a:cs typeface="+mn-lt"/>
              </a:rPr>
              <a:t> a </a:t>
            </a:r>
            <a:r>
              <a:rPr lang="en-US" dirty="0" err="1">
                <a:ea typeface="+mn-lt"/>
                <a:cs typeface="+mn-lt"/>
              </a:rPr>
              <a:t>teljes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rendszert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külön</a:t>
            </a:r>
            <a:r>
              <a:rPr lang="en-US" dirty="0">
                <a:ea typeface="+mn-lt"/>
                <a:cs typeface="+mn-lt"/>
              </a:rPr>
              <a:t> frontend, backend </a:t>
            </a:r>
            <a:r>
              <a:rPr lang="en-US" dirty="0" err="1">
                <a:ea typeface="+mn-lt"/>
                <a:cs typeface="+mn-lt"/>
              </a:rPr>
              <a:t>és</a:t>
            </a:r>
            <a:r>
              <a:rPr lang="en-US" dirty="0">
                <a:ea typeface="+mn-lt"/>
                <a:cs typeface="+mn-lt"/>
              </a:rPr>
              <a:t> admin </a:t>
            </a:r>
            <a:r>
              <a:rPr lang="en-US" dirty="0" err="1">
                <a:ea typeface="+mn-lt"/>
                <a:cs typeface="+mn-lt"/>
              </a:rPr>
              <a:t>modulokra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bontva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marL="0" indent="0">
              <a:buNone/>
            </a:pPr>
            <a:r>
              <a:rPr lang="en-US" dirty="0" err="1">
                <a:ea typeface="+mn-lt"/>
                <a:cs typeface="+mn-lt"/>
              </a:rPr>
              <a:t>Röviden</a:t>
            </a:r>
            <a:r>
              <a:rPr lang="en-US" dirty="0">
                <a:ea typeface="+mn-lt"/>
                <a:cs typeface="+mn-lt"/>
              </a:rPr>
              <a:t>: a GitHub </a:t>
            </a:r>
            <a:r>
              <a:rPr lang="en-US" dirty="0" err="1">
                <a:ea typeface="+mn-lt"/>
                <a:cs typeface="+mn-lt"/>
              </a:rPr>
              <a:t>adta</a:t>
            </a:r>
            <a:r>
              <a:rPr lang="en-US" dirty="0">
                <a:ea typeface="+mn-lt"/>
                <a:cs typeface="+mn-lt"/>
              </a:rPr>
              <a:t> a </a:t>
            </a:r>
            <a:r>
              <a:rPr lang="en-US" dirty="0" err="1">
                <a:ea typeface="+mn-lt"/>
                <a:cs typeface="+mn-lt"/>
              </a:rPr>
              <a:t>fejlesztés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központi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verziókezelését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az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átlátható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kódszervezést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és</a:t>
            </a:r>
            <a:r>
              <a:rPr lang="en-US" dirty="0">
                <a:ea typeface="+mn-lt"/>
                <a:cs typeface="+mn-lt"/>
              </a:rPr>
              <a:t> a </a:t>
            </a:r>
            <a:r>
              <a:rPr lang="en-US" dirty="0" err="1">
                <a:ea typeface="+mn-lt"/>
                <a:cs typeface="+mn-lt"/>
              </a:rPr>
              <a:t>biztonságos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közös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munkát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6371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7C2FB02E-1185-80E2-BBAA-17209DA36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780776" cy="1180210"/>
          </a:xfrm>
        </p:spPr>
        <p:txBody>
          <a:bodyPr>
            <a:normAutofit/>
          </a:bodyPr>
          <a:lstStyle/>
          <a:p>
            <a:r>
              <a:rPr lang="hu-HU"/>
              <a:t>A CSAPATMUNKA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E495065-8864-87FB-2BCC-254769963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B5AAF20-595B-D1DD-F591-AD22E1F82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4960" y="2346960"/>
            <a:ext cx="4819903" cy="3775456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>
              <a:buNone/>
            </a:pPr>
            <a:r>
              <a:rPr lang="en-US" dirty="0">
                <a:ea typeface="+mn-lt"/>
                <a:cs typeface="+mn-lt"/>
              </a:rPr>
              <a:t>Ez a Trello </a:t>
            </a:r>
            <a:r>
              <a:rPr lang="en-US" dirty="0" err="1">
                <a:ea typeface="+mn-lt"/>
                <a:cs typeface="+mn-lt"/>
              </a:rPr>
              <a:t>tábla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jól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mutatja</a:t>
            </a:r>
            <a:r>
              <a:rPr lang="en-US" dirty="0">
                <a:ea typeface="+mn-lt"/>
                <a:cs typeface="+mn-lt"/>
              </a:rPr>
              <a:t> a </a:t>
            </a:r>
            <a:r>
              <a:rPr lang="en-US" dirty="0" err="1">
                <a:ea typeface="+mn-lt"/>
                <a:cs typeface="+mn-lt"/>
              </a:rPr>
              <a:t>projektmunka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menetét</a:t>
            </a:r>
            <a:r>
              <a:rPr lang="en-US" dirty="0">
                <a:ea typeface="+mn-lt"/>
                <a:cs typeface="+mn-lt"/>
              </a:rPr>
              <a:t>: a </a:t>
            </a:r>
            <a:r>
              <a:rPr lang="en-US" dirty="0" err="1">
                <a:ea typeface="+mn-lt"/>
                <a:cs typeface="+mn-lt"/>
              </a:rPr>
              <a:t>feladatok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Teendő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Folyamatban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és</a:t>
            </a:r>
            <a:r>
              <a:rPr lang="en-US" dirty="0">
                <a:ea typeface="+mn-lt"/>
                <a:cs typeface="+mn-lt"/>
              </a:rPr>
              <a:t> Kész </a:t>
            </a:r>
            <a:r>
              <a:rPr lang="en-US" dirty="0" err="1">
                <a:ea typeface="+mn-lt"/>
                <a:cs typeface="+mn-lt"/>
              </a:rPr>
              <a:t>oszlopokba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vannak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rendezve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így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folyamatosan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látszott</a:t>
            </a:r>
            <a:r>
              <a:rPr lang="en-US" dirty="0">
                <a:ea typeface="+mn-lt"/>
                <a:cs typeface="+mn-lt"/>
              </a:rPr>
              <a:t>, mi </a:t>
            </a:r>
            <a:r>
              <a:rPr lang="en-US" dirty="0" err="1">
                <a:ea typeface="+mn-lt"/>
                <a:cs typeface="+mn-lt"/>
              </a:rPr>
              <a:t>hol</a:t>
            </a:r>
            <a:r>
              <a:rPr lang="en-US" dirty="0">
                <a:ea typeface="+mn-lt"/>
                <a:cs typeface="+mn-lt"/>
              </a:rPr>
              <a:t> tart.</a:t>
            </a:r>
            <a:endParaRPr lang="hu-HU" dirty="0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A </a:t>
            </a:r>
            <a:r>
              <a:rPr lang="en-US" dirty="0" err="1">
                <a:ea typeface="+mn-lt"/>
                <a:cs typeface="+mn-lt"/>
              </a:rPr>
              <a:t>kártyák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modulonként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vannak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bontva</a:t>
            </a:r>
            <a:r>
              <a:rPr lang="en-US" dirty="0">
                <a:ea typeface="+mn-lt"/>
                <a:cs typeface="+mn-lt"/>
              </a:rPr>
              <a:t> (pl. </a:t>
            </a:r>
            <a:r>
              <a:rPr lang="en-US" dirty="0" err="1">
                <a:ea typeface="+mn-lt"/>
                <a:cs typeface="+mn-lt"/>
              </a:rPr>
              <a:t>hibák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mentál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adatbázis</a:t>
            </a:r>
            <a:r>
              <a:rPr lang="en-US" dirty="0">
                <a:ea typeface="+mn-lt"/>
                <a:cs typeface="+mn-lt"/>
              </a:rPr>
              <a:t>, test, arc, backend), </a:t>
            </a:r>
            <a:r>
              <a:rPr lang="en-US" dirty="0" err="1">
                <a:ea typeface="+mn-lt"/>
                <a:cs typeface="+mn-lt"/>
              </a:rPr>
              <a:t>ezért</a:t>
            </a:r>
            <a:r>
              <a:rPr lang="en-US" dirty="0">
                <a:ea typeface="+mn-lt"/>
                <a:cs typeface="+mn-lt"/>
              </a:rPr>
              <a:t> a </a:t>
            </a:r>
            <a:r>
              <a:rPr lang="en-US" dirty="0" err="1">
                <a:ea typeface="+mn-lt"/>
                <a:cs typeface="+mn-lt"/>
              </a:rPr>
              <a:t>feladatmegosztás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és</a:t>
            </a:r>
            <a:r>
              <a:rPr lang="en-US" dirty="0">
                <a:ea typeface="+mn-lt"/>
                <a:cs typeface="+mn-lt"/>
              </a:rPr>
              <a:t> a </a:t>
            </a:r>
            <a:r>
              <a:rPr lang="en-US" dirty="0" err="1">
                <a:ea typeface="+mn-lt"/>
                <a:cs typeface="+mn-lt"/>
              </a:rPr>
              <a:t>felelősségi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körök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átláthatók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maradtak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marL="0" indent="0">
              <a:buNone/>
            </a:pPr>
            <a:r>
              <a:rPr lang="en-US" dirty="0" err="1">
                <a:ea typeface="+mn-lt"/>
                <a:cs typeface="+mn-lt"/>
              </a:rPr>
              <a:t>Röviden</a:t>
            </a:r>
            <a:r>
              <a:rPr lang="en-US" dirty="0">
                <a:ea typeface="+mn-lt"/>
                <a:cs typeface="+mn-lt"/>
              </a:rPr>
              <a:t>: </a:t>
            </a:r>
            <a:r>
              <a:rPr lang="en-US" dirty="0" err="1">
                <a:ea typeface="+mn-lt"/>
                <a:cs typeface="+mn-lt"/>
              </a:rPr>
              <a:t>ez</a:t>
            </a:r>
            <a:r>
              <a:rPr lang="en-US" dirty="0">
                <a:ea typeface="+mn-lt"/>
                <a:cs typeface="+mn-lt"/>
              </a:rPr>
              <a:t> a </a:t>
            </a:r>
            <a:r>
              <a:rPr lang="en-US" dirty="0" err="1">
                <a:ea typeface="+mn-lt"/>
                <a:cs typeface="+mn-lt"/>
              </a:rPr>
              <a:t>vizuális</a:t>
            </a:r>
            <a:r>
              <a:rPr lang="en-US" dirty="0">
                <a:ea typeface="+mn-lt"/>
                <a:cs typeface="+mn-lt"/>
              </a:rPr>
              <a:t> workflow </a:t>
            </a:r>
            <a:r>
              <a:rPr lang="en-US" dirty="0" err="1">
                <a:ea typeface="+mn-lt"/>
                <a:cs typeface="+mn-lt"/>
              </a:rPr>
              <a:t>sokat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segített</a:t>
            </a:r>
            <a:r>
              <a:rPr lang="en-US" dirty="0">
                <a:ea typeface="+mn-lt"/>
                <a:cs typeface="+mn-lt"/>
              </a:rPr>
              <a:t> a </a:t>
            </a:r>
            <a:r>
              <a:rPr lang="en-US" dirty="0" err="1">
                <a:ea typeface="+mn-lt"/>
                <a:cs typeface="+mn-lt"/>
              </a:rPr>
              <a:t>csapatkoordinációban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priorizálásban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és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az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elkészült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elemek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nyomon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követésében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5C9F6054-A8EE-220D-4218-2F22BE361B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793" y="2094610"/>
            <a:ext cx="6405167" cy="3630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26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6" name="Rectangle 8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47450123-003E-DDA8-69CF-719EEF11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1181" y="1325880"/>
            <a:ext cx="2843711" cy="149332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dirty="0" err="1"/>
              <a:t>Funkcionális</a:t>
            </a:r>
            <a:r>
              <a:rPr lang="en-US" sz="2800" dirty="0"/>
              <a:t> </a:t>
            </a:r>
            <a:r>
              <a:rPr lang="en-US" sz="2800" dirty="0" err="1"/>
              <a:t>követelmények</a:t>
            </a:r>
            <a:endParaRPr lang="en-US" sz="2800" dirty="0"/>
          </a:p>
        </p:txBody>
      </p:sp>
      <p:pic>
        <p:nvPicPr>
          <p:cNvPr id="11" name="Kép 10" descr="A képen szöveg, képernyőkép, szoftver, Multimédiás szoftver látható&#10;&#10;Lehet, hogy az AI által létrehozott tartalom helytelen.">
            <a:extLst>
              <a:ext uri="{FF2B5EF4-FFF2-40B4-BE49-F238E27FC236}">
                <a16:creationId xmlns:a16="http://schemas.microsoft.com/office/drawing/2014/main" id="{4A3336A8-7C02-62C6-6B54-96CF608516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318" r="23350" b="-1"/>
          <a:stretch>
            <a:fillRect/>
          </a:stretch>
        </p:blipFill>
        <p:spPr>
          <a:xfrm>
            <a:off x="-1" y="10"/>
            <a:ext cx="8056345" cy="6857990"/>
          </a:xfrm>
          <a:prstGeom prst="rect">
            <a:avLst/>
          </a:prstGeom>
        </p:spPr>
      </p:pic>
      <p:cxnSp>
        <p:nvCxnSpPr>
          <p:cNvPr id="97" name="Straight Connector 91">
            <a:extLst>
              <a:ext uri="{FF2B5EF4-FFF2-40B4-BE49-F238E27FC236}">
                <a16:creationId xmlns:a16="http://schemas.microsoft.com/office/drawing/2014/main" id="{511FC409-B3C2-4F68-865C-C5333D6F2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41170" y="1172935"/>
            <a:ext cx="2653318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3">
            <a:extLst>
              <a:ext uri="{FF2B5EF4-FFF2-40B4-BE49-F238E27FC236}">
                <a16:creationId xmlns:a16="http://schemas.microsoft.com/office/drawing/2014/main" id="{B810270D-76A7-44B3-9746-7EDF57886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41170" y="3105667"/>
            <a:ext cx="265331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6">
            <a:extLst>
              <a:ext uri="{FF2B5EF4-FFF2-40B4-BE49-F238E27FC236}">
                <a16:creationId xmlns:a16="http://schemas.microsoft.com/office/drawing/2014/main" id="{FF188842-7611-0AA7-EC7D-D21629843C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8476" y="2531607"/>
            <a:ext cx="3782727" cy="418682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Autofit/>
          </a:bodyPr>
          <a:lstStyle/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hu-HU" sz="16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hu-HU" sz="1600" b="0" i="0" u="none" strike="noStrike" cap="none" normalizeH="0" baseline="0" dirty="0" err="1">
                <a:ln>
                  <a:noFill/>
                </a:ln>
                <a:effectLst/>
              </a:rPr>
              <a:t>Regisztráció</a:t>
            </a:r>
            <a:r>
              <a:rPr kumimoji="0" lang="en-US" altLang="hu-HU" sz="1600" b="0" i="0" u="none" strike="noStrike" cap="none" normalizeH="0" baseline="0" dirty="0">
                <a:ln>
                  <a:noFill/>
                </a:ln>
                <a:effectLst/>
              </a:rPr>
              <a:t> / </a:t>
            </a:r>
            <a:r>
              <a:rPr kumimoji="0" lang="en-US" altLang="hu-HU" sz="1600" b="0" i="0" u="none" strike="noStrike" cap="none" normalizeH="0" baseline="0" dirty="0" err="1">
                <a:ln>
                  <a:noFill/>
                </a:ln>
                <a:effectLst/>
              </a:rPr>
              <a:t>bejelentkezés</a:t>
            </a:r>
            <a:r>
              <a:rPr kumimoji="0" lang="en-US" altLang="hu-HU" sz="1600" b="0" i="0" u="none" strike="noStrike" cap="none" normalizeH="0" baseline="0" dirty="0">
                <a:ln>
                  <a:noFill/>
                </a:ln>
                <a:effectLst/>
              </a:rPr>
              <a:t> + JWT token </a:t>
            </a:r>
            <a:endParaRPr kumimoji="0" lang="hu-HU" altLang="hu-HU" sz="16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hu-HU" sz="16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hu-HU" sz="1600" b="0" i="0" u="none" strike="noStrike" cap="none" normalizeH="0" baseline="0" dirty="0" err="1">
                <a:ln>
                  <a:noFill/>
                </a:ln>
                <a:effectLst/>
              </a:rPr>
              <a:t>Automatikus</a:t>
            </a:r>
            <a:r>
              <a:rPr kumimoji="0" lang="en-US" altLang="hu-HU" sz="1600" b="0" i="0" u="none" strike="noStrike" cap="none" normalizeH="0" baseline="0" dirty="0">
                <a:ln>
                  <a:noFill/>
                </a:ln>
                <a:effectLst/>
              </a:rPr>
              <a:t> dashboard </a:t>
            </a:r>
            <a:r>
              <a:rPr kumimoji="0" lang="en-US" altLang="hu-HU" sz="1600" b="0" i="0" u="none" strike="noStrike" cap="none" normalizeH="0" baseline="0" dirty="0" err="1">
                <a:ln>
                  <a:noFill/>
                </a:ln>
                <a:effectLst/>
              </a:rPr>
              <a:t>átirányítás</a:t>
            </a:r>
            <a:r>
              <a:rPr kumimoji="0" lang="en-US" altLang="hu-HU" sz="16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hu-HU" sz="16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hu-HU" sz="1600" b="0" i="0" u="none" strike="noStrike" cap="none" normalizeH="0" baseline="0" dirty="0" err="1">
                <a:ln>
                  <a:noFill/>
                </a:ln>
                <a:effectLst/>
              </a:rPr>
              <a:t>Központi</a:t>
            </a:r>
            <a:r>
              <a:rPr kumimoji="0" lang="en-US" altLang="hu-HU" sz="16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hu-HU" sz="1600" b="0" i="0" u="none" strike="noStrike" cap="none" normalizeH="0" baseline="0" dirty="0" err="1">
                <a:ln>
                  <a:noFill/>
                </a:ln>
                <a:effectLst/>
              </a:rPr>
              <a:t>összegző</a:t>
            </a:r>
            <a:r>
              <a:rPr kumimoji="0" lang="en-US" altLang="hu-HU" sz="16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hu-HU" sz="1600" b="0" i="0" u="none" strike="noStrike" cap="none" normalizeH="0" baseline="0" dirty="0" err="1">
                <a:ln>
                  <a:noFill/>
                </a:ln>
                <a:effectLst/>
              </a:rPr>
              <a:t>felület</a:t>
            </a:r>
            <a:r>
              <a:rPr kumimoji="0" lang="en-US" altLang="hu-HU" sz="1600" b="0" i="0" u="none" strike="noStrike" cap="none" normalizeH="0" baseline="0" dirty="0">
                <a:ln>
                  <a:noFill/>
                </a:ln>
                <a:effectLst/>
              </a:rPr>
              <a:t> (Test + Arc + </a:t>
            </a:r>
            <a:r>
              <a:rPr kumimoji="0" lang="en-US" altLang="hu-HU" sz="1600" b="0" i="0" u="none" strike="noStrike" cap="none" normalizeH="0" baseline="0" dirty="0" err="1">
                <a:ln>
                  <a:noFill/>
                </a:ln>
                <a:effectLst/>
              </a:rPr>
              <a:t>Mentál</a:t>
            </a:r>
            <a:r>
              <a:rPr kumimoji="0" lang="en-US" altLang="hu-HU" sz="1600" b="0" i="0" u="none" strike="noStrike" cap="none" normalizeH="0" baseline="0" dirty="0">
                <a:ln>
                  <a:noFill/>
                </a:ln>
                <a:effectLst/>
              </a:rPr>
              <a:t>) 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hu-HU" sz="16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hu-HU" sz="1600" b="0" i="0" u="none" strike="noStrike" cap="none" normalizeH="0" baseline="0" dirty="0" err="1">
                <a:ln>
                  <a:noFill/>
                </a:ln>
                <a:effectLst/>
              </a:rPr>
              <a:t>Napi</a:t>
            </a:r>
            <a:r>
              <a:rPr kumimoji="0" lang="en-US" altLang="hu-HU" sz="16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hu-HU" sz="1600" b="0" i="0" u="none" strike="noStrike" cap="none" normalizeH="0" baseline="0" dirty="0" err="1">
                <a:ln>
                  <a:noFill/>
                </a:ln>
                <a:effectLst/>
              </a:rPr>
              <a:t>haladáskövetés</a:t>
            </a:r>
            <a:r>
              <a:rPr kumimoji="0" lang="en-US" altLang="hu-HU" sz="1600" b="0" i="0" u="none" strike="noStrike" cap="none" normalizeH="0" baseline="0" dirty="0">
                <a:ln>
                  <a:noFill/>
                </a:ln>
                <a:effectLst/>
              </a:rPr>
              <a:t> (</a:t>
            </a:r>
            <a:r>
              <a:rPr kumimoji="0" lang="en-US" altLang="hu-HU" sz="1600" b="0" i="0" u="none" strike="noStrike" cap="none" normalizeH="0" baseline="0" dirty="0" err="1">
                <a:ln>
                  <a:noFill/>
                </a:ln>
                <a:effectLst/>
              </a:rPr>
              <a:t>táplálkozás</a:t>
            </a:r>
            <a:r>
              <a:rPr kumimoji="0" lang="en-US" altLang="hu-HU" sz="1600" b="0" i="0" u="none" strike="noStrike" cap="none" normalizeH="0" baseline="0" dirty="0">
                <a:ln>
                  <a:noFill/>
                </a:ln>
                <a:effectLst/>
              </a:rPr>
              <a:t>, </a:t>
            </a:r>
            <a:r>
              <a:rPr kumimoji="0" lang="en-US" altLang="hu-HU" sz="1600" b="0" i="0" u="none" strike="noStrike" cap="none" normalizeH="0" baseline="0" dirty="0" err="1">
                <a:ln>
                  <a:noFill/>
                </a:ln>
                <a:effectLst/>
              </a:rPr>
              <a:t>edzés</a:t>
            </a:r>
            <a:r>
              <a:rPr kumimoji="0" lang="en-US" altLang="hu-HU" sz="1600" b="0" i="0" u="none" strike="noStrike" cap="none" normalizeH="0" baseline="0" dirty="0">
                <a:ln>
                  <a:noFill/>
                </a:ln>
                <a:effectLst/>
              </a:rPr>
              <a:t>, </a:t>
            </a:r>
            <a:r>
              <a:rPr kumimoji="0" lang="en-US" altLang="hu-HU" sz="1600" b="0" i="0" u="none" strike="noStrike" cap="none" normalizeH="0" baseline="0" dirty="0" err="1">
                <a:ln>
                  <a:noFill/>
                </a:ln>
                <a:effectLst/>
              </a:rPr>
              <a:t>arcápolás</a:t>
            </a:r>
            <a:r>
              <a:rPr kumimoji="0" lang="en-US" altLang="hu-HU" sz="1600" b="0" i="0" u="none" strike="noStrike" cap="none" normalizeH="0" baseline="0" dirty="0">
                <a:ln>
                  <a:noFill/>
                </a:ln>
                <a:effectLst/>
              </a:rPr>
              <a:t>, </a:t>
            </a:r>
            <a:r>
              <a:rPr kumimoji="0" lang="en-US" altLang="hu-HU" sz="1600" b="0" i="0" u="none" strike="noStrike" cap="none" normalizeH="0" baseline="0" dirty="0" err="1">
                <a:ln>
                  <a:noFill/>
                </a:ln>
                <a:effectLst/>
              </a:rPr>
              <a:t>mentál</a:t>
            </a:r>
            <a:r>
              <a:rPr kumimoji="0" lang="en-US" altLang="hu-HU" sz="1600" b="0" i="0" u="none" strike="noStrike" cap="none" normalizeH="0" baseline="0" dirty="0">
                <a:ln>
                  <a:noFill/>
                </a:ln>
                <a:effectLst/>
              </a:rPr>
              <a:t>) 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hu-HU" sz="16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hu-HU" sz="1600" b="0" i="0" u="none" strike="noStrike" cap="none" normalizeH="0" baseline="0" dirty="0" err="1">
                <a:ln>
                  <a:noFill/>
                </a:ln>
                <a:effectLst/>
              </a:rPr>
              <a:t>Rutinok</a:t>
            </a:r>
            <a:r>
              <a:rPr kumimoji="0" lang="en-US" altLang="hu-HU" sz="16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hu-HU" sz="1600" b="0" i="0" u="none" strike="noStrike" cap="none" normalizeH="0" baseline="0" dirty="0" err="1">
                <a:ln>
                  <a:noFill/>
                </a:ln>
                <a:effectLst/>
              </a:rPr>
              <a:t>visszanézése</a:t>
            </a:r>
            <a:r>
              <a:rPr kumimoji="0" lang="en-US" altLang="hu-HU" sz="1600" b="0" i="0" u="none" strike="noStrike" cap="none" normalizeH="0" baseline="0" dirty="0">
                <a:ln>
                  <a:noFill/>
                </a:ln>
                <a:effectLst/>
              </a:rPr>
              <a:t> + </a:t>
            </a:r>
            <a:r>
              <a:rPr kumimoji="0" lang="en-US" altLang="hu-HU" sz="1600" b="0" i="0" u="none" strike="noStrike" cap="none" normalizeH="0" baseline="0" dirty="0" err="1">
                <a:ln>
                  <a:noFill/>
                </a:ln>
                <a:effectLst/>
              </a:rPr>
              <a:t>adatok</a:t>
            </a:r>
            <a:r>
              <a:rPr kumimoji="0" lang="en-US" altLang="hu-HU" sz="16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hu-HU" sz="1600" b="0" i="0" u="none" strike="noStrike" cap="none" normalizeH="0" baseline="0" dirty="0" err="1">
                <a:ln>
                  <a:noFill/>
                </a:ln>
                <a:effectLst/>
              </a:rPr>
              <a:t>kezelése</a:t>
            </a:r>
            <a:r>
              <a:rPr kumimoji="0" lang="en-US" altLang="hu-HU" sz="1600" b="0" i="0" u="none" strike="noStrike" cap="none" normalizeH="0" baseline="0" dirty="0">
                <a:ln>
                  <a:noFill/>
                </a:ln>
                <a:effectLst/>
              </a:rPr>
              <a:t> (</a:t>
            </a:r>
            <a:r>
              <a:rPr kumimoji="0" lang="en-US" altLang="hu-HU" sz="1600" b="0" i="0" u="none" strike="noStrike" cap="none" normalizeH="0" baseline="0" dirty="0" err="1">
                <a:ln>
                  <a:noFill/>
                </a:ln>
                <a:effectLst/>
              </a:rPr>
              <a:t>frissítés</a:t>
            </a:r>
            <a:r>
              <a:rPr kumimoji="0" lang="en-US" altLang="hu-HU" sz="1600" b="0" i="0" u="none" strike="noStrike" cap="none" normalizeH="0" baseline="0" dirty="0">
                <a:ln>
                  <a:noFill/>
                </a:ln>
                <a:effectLst/>
              </a:rPr>
              <a:t>, reset, </a:t>
            </a:r>
            <a:r>
              <a:rPr kumimoji="0" lang="en-US" altLang="hu-HU" sz="1600" b="0" i="0" u="none" strike="noStrike" cap="none" normalizeH="0" baseline="0" dirty="0" err="1">
                <a:ln>
                  <a:noFill/>
                </a:ln>
                <a:effectLst/>
              </a:rPr>
              <a:t>kijelentkezés</a:t>
            </a:r>
            <a:r>
              <a:rPr kumimoji="0" lang="en-US" altLang="hu-HU" sz="1600" b="0" i="0" u="none" strike="noStrike" cap="none" normalizeH="0" baseline="0" dirty="0">
                <a:ln>
                  <a:noFill/>
                </a:ln>
                <a:effectLst/>
              </a:rPr>
              <a:t>) 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AC1245B7-7FD4-749B-7BFA-AA80DAF9BAE4}"/>
              </a:ext>
            </a:extLst>
          </p:cNvPr>
          <p:cNvSpPr txBox="1"/>
          <p:nvPr/>
        </p:nvSpPr>
        <p:spPr>
          <a:xfrm>
            <a:off x="4866968" y="2221992"/>
            <a:ext cx="6627924" cy="3739896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5777320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62B1EC6-B6B8-F62D-02A9-E682E2D46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Mobilos nézet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185743BE-4926-6D21-4314-04F3C49AF5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00" y="1707240"/>
            <a:ext cx="2721212" cy="3865732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4E12DC04-59E8-3395-32F2-4ACAE389E7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5660" y="1635273"/>
            <a:ext cx="2721213" cy="3937699"/>
          </a:xfrm>
          <a:prstGeom prst="rect">
            <a:avLst/>
          </a:prstGeom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7D8F8710-A8D8-8FC6-9B89-B3F67FFB73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0953" y="1611178"/>
            <a:ext cx="2721214" cy="3937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1219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0CEB2B29-C9EF-96F9-4D14-85C068CCC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780776" cy="1180210"/>
          </a:xfrm>
        </p:spPr>
        <p:txBody>
          <a:bodyPr>
            <a:normAutofit/>
          </a:bodyPr>
          <a:lstStyle/>
          <a:p>
            <a:r>
              <a:rPr lang="hu-HU"/>
              <a:t>AZ ADATBÁZIS</a:t>
            </a:r>
            <a:endParaRPr lang="hu-HU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E495065-8864-87FB-2BCC-254769963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Kép 3" descr="A képen szöveg, képernyőkép, diagram, sor látható&#10;&#10;Lehet, hogy az AI által létrehozott tartalom helytelen.">
            <a:extLst>
              <a:ext uri="{FF2B5EF4-FFF2-40B4-BE49-F238E27FC236}">
                <a16:creationId xmlns:a16="http://schemas.microsoft.com/office/drawing/2014/main" id="{73F075EA-1536-963E-75F4-CC07B45F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098" y="2389121"/>
            <a:ext cx="5549902" cy="3773933"/>
          </a:xfrm>
          <a:prstGeom prst="rect">
            <a:avLst/>
          </a:prstGeom>
        </p:spPr>
      </p:pic>
      <p:sp>
        <p:nvSpPr>
          <p:cNvPr id="3" name="Tartalom helye 2">
            <a:extLst>
              <a:ext uri="{FF2B5EF4-FFF2-40B4-BE49-F238E27FC236}">
                <a16:creationId xmlns:a16="http://schemas.microsoft.com/office/drawing/2014/main" id="{68161047-5F06-C4BF-2B96-D159A8AC85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4960" y="914400"/>
            <a:ext cx="4819903" cy="520801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hu-HU" sz="1200" b="1" dirty="0">
                <a:ea typeface="+mn-lt"/>
                <a:cs typeface="+mn-lt"/>
              </a:rPr>
              <a:t>Központi logika</a:t>
            </a:r>
            <a:endParaRPr lang="hu-HU" sz="1200" b="1" dirty="0"/>
          </a:p>
          <a:p>
            <a:pPr marL="0" indent="0">
              <a:lnSpc>
                <a:spcPct val="100000"/>
              </a:lnSpc>
              <a:buNone/>
            </a:pPr>
            <a:r>
              <a:rPr lang="hu-HU" sz="1200" dirty="0">
                <a:ea typeface="+mn-lt"/>
                <a:cs typeface="+mn-lt"/>
              </a:rPr>
              <a:t>A rendszer </a:t>
            </a:r>
            <a:r>
              <a:rPr lang="hu-HU" sz="1200" dirty="0" err="1">
                <a:ea typeface="+mn-lt"/>
                <a:cs typeface="+mn-lt"/>
              </a:rPr>
              <a:t>user</a:t>
            </a:r>
            <a:r>
              <a:rPr lang="hu-HU" sz="1200" dirty="0">
                <a:ea typeface="+mn-lt"/>
                <a:cs typeface="+mn-lt"/>
              </a:rPr>
              <a:t>-központú SQL modellre épül: a </a:t>
            </a:r>
            <a:r>
              <a:rPr lang="hu-HU" sz="1200" dirty="0" err="1">
                <a:ea typeface="+mn-lt"/>
                <a:cs typeface="+mn-lt"/>
              </a:rPr>
              <a:t>users</a:t>
            </a:r>
            <a:r>
              <a:rPr lang="hu-HU" sz="1200" dirty="0">
                <a:ea typeface="+mn-lt"/>
                <a:cs typeface="+mn-lt"/>
              </a:rPr>
              <a:t> tábla a központ, minden más tábla </a:t>
            </a:r>
            <a:r>
              <a:rPr lang="hu-HU" sz="1200" dirty="0" err="1">
                <a:ea typeface="+mn-lt"/>
                <a:cs typeface="+mn-lt"/>
              </a:rPr>
              <a:t>user_id-val</a:t>
            </a:r>
            <a:r>
              <a:rPr lang="hu-HU" sz="1200" dirty="0">
                <a:ea typeface="+mn-lt"/>
                <a:cs typeface="+mn-lt"/>
              </a:rPr>
              <a:t> kapcsolódik hozzá. Modulonként vannak tárolva az adatok.</a:t>
            </a:r>
            <a:endParaRPr lang="hu-HU" sz="1200" dirty="0"/>
          </a:p>
          <a:p>
            <a:pPr>
              <a:buNone/>
            </a:pPr>
            <a:r>
              <a:rPr lang="hu-HU" sz="1200" b="1" dirty="0">
                <a:ea typeface="+mn-lt"/>
                <a:cs typeface="+mn-lt"/>
              </a:rPr>
              <a:t>Központi tábla</a:t>
            </a:r>
            <a:endParaRPr lang="hu-HU" sz="1200" b="1" dirty="0"/>
          </a:p>
          <a:p>
            <a:pPr>
              <a:buNone/>
            </a:pPr>
            <a:r>
              <a:rPr lang="hu-HU" sz="1200" dirty="0">
                <a:ea typeface="+mn-lt"/>
                <a:cs typeface="+mn-lt"/>
              </a:rPr>
              <a:t>A központ a </a:t>
            </a:r>
            <a:r>
              <a:rPr lang="hu-HU" sz="1200" dirty="0" err="1">
                <a:ea typeface="+mn-lt"/>
                <a:cs typeface="+mn-lt"/>
              </a:rPr>
              <a:t>users</a:t>
            </a:r>
            <a:r>
              <a:rPr lang="hu-HU" sz="1200" dirty="0">
                <a:ea typeface="+mn-lt"/>
                <a:cs typeface="+mn-lt"/>
              </a:rPr>
              <a:t> tábla.</a:t>
            </a:r>
            <a:endParaRPr lang="hu-HU" sz="1200" dirty="0"/>
          </a:p>
          <a:p>
            <a:pPr>
              <a:buNone/>
            </a:pPr>
            <a:r>
              <a:rPr lang="hu-HU" sz="1200" dirty="0">
                <a:ea typeface="+mn-lt"/>
                <a:cs typeface="+mn-lt"/>
              </a:rPr>
              <a:t>Minden más adat ehhez kapcsolódik </a:t>
            </a:r>
            <a:r>
              <a:rPr lang="hu-HU" sz="1200" dirty="0" err="1">
                <a:ea typeface="+mn-lt"/>
                <a:cs typeface="+mn-lt"/>
              </a:rPr>
              <a:t>user_id</a:t>
            </a:r>
            <a:r>
              <a:rPr lang="hu-HU" sz="1200" dirty="0">
                <a:ea typeface="+mn-lt"/>
                <a:cs typeface="+mn-lt"/>
              </a:rPr>
              <a:t> alapján.</a:t>
            </a:r>
            <a:endParaRPr lang="hu-HU" sz="1200" dirty="0"/>
          </a:p>
          <a:p>
            <a:pPr>
              <a:buNone/>
            </a:pPr>
            <a:r>
              <a:rPr lang="hu-HU" sz="1200" b="1" dirty="0">
                <a:ea typeface="+mn-lt"/>
                <a:cs typeface="+mn-lt"/>
              </a:rPr>
              <a:t>Test kapcsolatok</a:t>
            </a:r>
            <a:endParaRPr lang="hu-HU" sz="1200" b="1" dirty="0"/>
          </a:p>
          <a:p>
            <a:pPr>
              <a:buNone/>
            </a:pPr>
            <a:r>
              <a:rPr lang="hu-HU" sz="1200" dirty="0">
                <a:ea typeface="+mn-lt"/>
                <a:cs typeface="+mn-lt"/>
              </a:rPr>
              <a:t>Egy </a:t>
            </a:r>
            <a:r>
              <a:rPr lang="hu-HU" sz="1200" dirty="0" err="1">
                <a:ea typeface="+mn-lt"/>
                <a:cs typeface="+mn-lt"/>
              </a:rPr>
              <a:t>userhez</a:t>
            </a:r>
            <a:r>
              <a:rPr lang="hu-HU" sz="1200" dirty="0">
                <a:ea typeface="+mn-lt"/>
                <a:cs typeface="+mn-lt"/>
              </a:rPr>
              <a:t> több étel tartozhat (</a:t>
            </a:r>
            <a:r>
              <a:rPr lang="hu-HU" sz="1200" dirty="0" err="1">
                <a:ea typeface="+mn-lt"/>
                <a:cs typeface="+mn-lt"/>
              </a:rPr>
              <a:t>food_entries</a:t>
            </a:r>
            <a:r>
              <a:rPr lang="hu-HU" sz="1200" dirty="0">
                <a:ea typeface="+mn-lt"/>
                <a:cs typeface="+mn-lt"/>
              </a:rPr>
              <a:t>).</a:t>
            </a:r>
            <a:endParaRPr lang="hu-HU" sz="1200" dirty="0"/>
          </a:p>
          <a:p>
            <a:pPr>
              <a:buNone/>
            </a:pPr>
            <a:r>
              <a:rPr lang="hu-HU" sz="1200" dirty="0">
                <a:ea typeface="+mn-lt"/>
                <a:cs typeface="+mn-lt"/>
              </a:rPr>
              <a:t>Egy </a:t>
            </a:r>
            <a:r>
              <a:rPr lang="hu-HU" sz="1200" dirty="0" err="1">
                <a:ea typeface="+mn-lt"/>
                <a:cs typeface="+mn-lt"/>
              </a:rPr>
              <a:t>userhez</a:t>
            </a:r>
            <a:r>
              <a:rPr lang="hu-HU" sz="1200" dirty="0">
                <a:ea typeface="+mn-lt"/>
                <a:cs typeface="+mn-lt"/>
              </a:rPr>
              <a:t> több edzés tartozhat (</a:t>
            </a:r>
            <a:r>
              <a:rPr lang="hu-HU" sz="1200" dirty="0" err="1">
                <a:ea typeface="+mn-lt"/>
                <a:cs typeface="+mn-lt"/>
              </a:rPr>
              <a:t>workout_entries</a:t>
            </a:r>
            <a:r>
              <a:rPr lang="hu-HU" sz="1200" dirty="0">
                <a:ea typeface="+mn-lt"/>
                <a:cs typeface="+mn-lt"/>
              </a:rPr>
              <a:t>).</a:t>
            </a:r>
            <a:endParaRPr lang="hu-HU" sz="1200" dirty="0"/>
          </a:p>
          <a:p>
            <a:pPr>
              <a:buNone/>
            </a:pPr>
            <a:r>
              <a:rPr lang="hu-HU" sz="1200" dirty="0">
                <a:ea typeface="+mn-lt"/>
                <a:cs typeface="+mn-lt"/>
              </a:rPr>
              <a:t>A profil adatok (</a:t>
            </a:r>
            <a:r>
              <a:rPr lang="hu-HU" sz="1200" dirty="0" err="1">
                <a:ea typeface="+mn-lt"/>
                <a:cs typeface="+mn-lt"/>
              </a:rPr>
              <a:t>user_profile</a:t>
            </a:r>
            <a:r>
              <a:rPr lang="hu-HU" sz="1200" dirty="0">
                <a:ea typeface="+mn-lt"/>
                <a:cs typeface="+mn-lt"/>
              </a:rPr>
              <a:t>) is a </a:t>
            </a:r>
            <a:r>
              <a:rPr lang="hu-HU" sz="1200" dirty="0" err="1">
                <a:ea typeface="+mn-lt"/>
                <a:cs typeface="+mn-lt"/>
              </a:rPr>
              <a:t>userhez</a:t>
            </a:r>
            <a:r>
              <a:rPr lang="hu-HU" sz="1200" dirty="0">
                <a:ea typeface="+mn-lt"/>
                <a:cs typeface="+mn-lt"/>
              </a:rPr>
              <a:t> kötődnek.</a:t>
            </a:r>
            <a:endParaRPr lang="hu-HU" sz="1200" dirty="0"/>
          </a:p>
          <a:p>
            <a:pPr marL="0" indent="0">
              <a:buNone/>
            </a:pPr>
            <a:r>
              <a:rPr lang="hu-HU" sz="1200" b="1" dirty="0"/>
              <a:t>Arc kapcsolatok</a:t>
            </a:r>
            <a:endParaRPr lang="hu-HU" sz="1200" dirty="0"/>
          </a:p>
          <a:p>
            <a:pPr marL="0" indent="0">
              <a:buNone/>
            </a:pPr>
            <a:r>
              <a:rPr lang="hu-HU" sz="1200" dirty="0"/>
              <a:t>A rutinok a </a:t>
            </a:r>
            <a:r>
              <a:rPr lang="hu-HU" sz="1200" dirty="0" err="1"/>
              <a:t>userhez</a:t>
            </a:r>
            <a:r>
              <a:rPr lang="hu-HU" sz="1200" dirty="0"/>
              <a:t> tartoznak (</a:t>
            </a:r>
            <a:r>
              <a:rPr lang="hu-HU" sz="1200" dirty="0" err="1"/>
              <a:t>skin_routines</a:t>
            </a:r>
            <a:r>
              <a:rPr lang="hu-HU" sz="1200" dirty="0"/>
              <a:t>).</a:t>
            </a:r>
          </a:p>
          <a:p>
            <a:pPr marL="0" indent="0">
              <a:buNone/>
            </a:pPr>
            <a:r>
              <a:rPr lang="hu-HU" sz="1200" dirty="0"/>
              <a:t>A napi pipálások a rutinhoz tartoznak (</a:t>
            </a:r>
            <a:r>
              <a:rPr lang="hu-HU" sz="1200" dirty="0" err="1"/>
              <a:t>skin_routine_tracking</a:t>
            </a:r>
            <a:r>
              <a:rPr lang="hu-HU" sz="1200" dirty="0"/>
              <a:t>).</a:t>
            </a:r>
          </a:p>
          <a:p>
            <a:pPr marL="0" indent="0">
              <a:buNone/>
            </a:pPr>
            <a:r>
              <a:rPr lang="hu-HU" sz="1200" b="1" dirty="0"/>
              <a:t>Mentál kapcsolatok</a:t>
            </a:r>
            <a:endParaRPr lang="hu-HU" sz="1200" dirty="0"/>
          </a:p>
          <a:p>
            <a:pPr>
              <a:buNone/>
            </a:pPr>
            <a:r>
              <a:rPr lang="hu-HU" sz="1200" dirty="0"/>
              <a:t>A mentál rutin a </a:t>
            </a:r>
            <a:r>
              <a:rPr lang="hu-HU" sz="1200" dirty="0" err="1"/>
              <a:t>userhez</a:t>
            </a:r>
            <a:r>
              <a:rPr lang="hu-HU" sz="1200" dirty="0"/>
              <a:t> tartozik (</a:t>
            </a:r>
            <a:r>
              <a:rPr lang="hu-HU" sz="1200" dirty="0" err="1"/>
              <a:t>mental_routines</a:t>
            </a:r>
            <a:r>
              <a:rPr lang="hu-HU" sz="1200" dirty="0"/>
              <a:t>).</a:t>
            </a:r>
          </a:p>
          <a:p>
            <a:pPr marL="0" indent="0">
              <a:buNone/>
            </a:pPr>
            <a:r>
              <a:rPr lang="hu-HU" sz="1200" dirty="0"/>
              <a:t>A napi mentál teljesítés a rutinhoz tartozik (</a:t>
            </a:r>
            <a:r>
              <a:rPr lang="hu-HU" sz="1200" dirty="0" err="1"/>
              <a:t>mental_routine_tracking</a:t>
            </a:r>
            <a:r>
              <a:rPr lang="hu-HU" sz="1200" dirty="0"/>
              <a:t>).</a:t>
            </a:r>
          </a:p>
          <a:p>
            <a:pPr marL="0" indent="0">
              <a:buNone/>
            </a:pPr>
            <a:endParaRPr lang="hu-HU" sz="1200" dirty="0"/>
          </a:p>
          <a:p>
            <a:pPr marL="0" indent="0">
              <a:buNone/>
            </a:pPr>
            <a:r>
              <a:rPr lang="hu-HU" sz="1200" dirty="0" err="1"/>
              <a:t>Realációs</a:t>
            </a:r>
            <a:r>
              <a:rPr lang="hu-HU" sz="1200" dirty="0"/>
              <a:t> adatbázis kezelőt használtunk </a:t>
            </a:r>
            <a:r>
              <a:rPr lang="hu-HU" sz="1200" dirty="0" err="1"/>
              <a:t>mysql</a:t>
            </a:r>
            <a:endParaRPr lang="hu-HU" sz="1200" dirty="0"/>
          </a:p>
          <a:p>
            <a:pPr>
              <a:buNone/>
            </a:pPr>
            <a:endParaRPr lang="hu-HU" sz="1200" b="1" dirty="0"/>
          </a:p>
          <a:p>
            <a:pPr>
              <a:buNone/>
            </a:pPr>
            <a:endParaRPr lang="hu-HU" sz="1200" dirty="0"/>
          </a:p>
          <a:p>
            <a:pPr marL="0" indent="0">
              <a:lnSpc>
                <a:spcPct val="100000"/>
              </a:lnSpc>
              <a:buNone/>
            </a:pPr>
            <a:endParaRPr lang="hu-HU" sz="1200" dirty="0"/>
          </a:p>
          <a:p>
            <a:pPr marL="0" indent="0">
              <a:lnSpc>
                <a:spcPct val="100000"/>
              </a:lnSpc>
              <a:buNone/>
            </a:pPr>
            <a:endParaRPr lang="hu-HU" sz="1200" dirty="0"/>
          </a:p>
          <a:p>
            <a:pPr marL="0" indent="0">
              <a:lnSpc>
                <a:spcPct val="100000"/>
              </a:lnSpc>
              <a:buNone/>
            </a:pPr>
            <a:endParaRPr lang="hu-HU" sz="1200" b="1" dirty="0"/>
          </a:p>
        </p:txBody>
      </p:sp>
    </p:spTree>
    <p:extLst>
      <p:ext uri="{BB962C8B-B14F-4D97-AF65-F5344CB8AC3E}">
        <p14:creationId xmlns:p14="http://schemas.microsoft.com/office/powerpoint/2010/main" val="17997893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F2771F9-729F-8399-E7CE-FF27843A4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A backend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5734632-A7FE-F5F7-763C-73246CFAF9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784548"/>
            <a:ext cx="10691265" cy="4387652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hu-HU" sz="1400" b="1" dirty="0">
                <a:ea typeface="+mn-lt"/>
                <a:cs typeface="+mn-lt"/>
              </a:rPr>
              <a:t>Hogyan kommunikál a backend a weboldallal?</a:t>
            </a:r>
            <a:endParaRPr lang="hu-HU" sz="1400" b="1" dirty="0"/>
          </a:p>
          <a:p>
            <a:pPr>
              <a:buNone/>
            </a:pPr>
            <a:r>
              <a:rPr lang="hu-HU" sz="1400" b="1" dirty="0">
                <a:ea typeface="+mn-lt"/>
                <a:cs typeface="+mn-lt"/>
              </a:rPr>
              <a:t>HTTP + JSON alapú kommunikáció</a:t>
            </a:r>
            <a:endParaRPr lang="hu-HU" sz="1400" b="1" dirty="0"/>
          </a:p>
          <a:p>
            <a:pPr>
              <a:buNone/>
            </a:pPr>
            <a:r>
              <a:rPr lang="hu-HU" sz="1400" dirty="0">
                <a:ea typeface="+mn-lt"/>
                <a:cs typeface="+mn-lt"/>
              </a:rPr>
              <a:t>A frontend </a:t>
            </a:r>
            <a:r>
              <a:rPr lang="hu-HU" sz="1400" dirty="0" err="1">
                <a:ea typeface="+mn-lt"/>
                <a:cs typeface="+mn-lt"/>
              </a:rPr>
              <a:t>fetch</a:t>
            </a:r>
            <a:r>
              <a:rPr lang="hu-HU" sz="1400" dirty="0">
                <a:ea typeface="+mn-lt"/>
                <a:cs typeface="+mn-lt"/>
              </a:rPr>
              <a:t> hívásokkal kommunikál a backenddel (GET, POST, DELETE), a </a:t>
            </a:r>
            <a:r>
              <a:rPr lang="hu-HU" sz="1400" dirty="0" err="1">
                <a:ea typeface="+mn-lt"/>
                <a:cs typeface="+mn-lt"/>
              </a:rPr>
              <a:t>payload</a:t>
            </a:r>
            <a:r>
              <a:rPr lang="hu-HU" sz="1400" dirty="0">
                <a:ea typeface="+mn-lt"/>
                <a:cs typeface="+mn-lt"/>
              </a:rPr>
              <a:t> és válasz JSON formátumú.</a:t>
            </a:r>
            <a:endParaRPr lang="hu-HU" sz="1400" dirty="0"/>
          </a:p>
          <a:p>
            <a:pPr>
              <a:buNone/>
            </a:pPr>
            <a:r>
              <a:rPr lang="hu-HU" sz="1400" b="1" dirty="0" err="1">
                <a:ea typeface="+mn-lt"/>
                <a:cs typeface="+mn-lt"/>
              </a:rPr>
              <a:t>Token</a:t>
            </a:r>
            <a:r>
              <a:rPr lang="hu-HU" sz="1400" b="1" dirty="0">
                <a:ea typeface="+mn-lt"/>
                <a:cs typeface="+mn-lt"/>
              </a:rPr>
              <a:t> alapú kérés</a:t>
            </a:r>
            <a:endParaRPr lang="hu-HU" sz="1400" b="1" dirty="0"/>
          </a:p>
          <a:p>
            <a:pPr>
              <a:buNone/>
            </a:pPr>
            <a:r>
              <a:rPr lang="hu-HU" sz="1400" dirty="0">
                <a:ea typeface="+mn-lt"/>
                <a:cs typeface="+mn-lt"/>
              </a:rPr>
              <a:t>Belépés után a frontend eltárolja a JWT-t, és a védett kéréseknél </a:t>
            </a:r>
            <a:r>
              <a:rPr lang="hu-HU" sz="1400" dirty="0" err="1">
                <a:ea typeface="+mn-lt"/>
                <a:cs typeface="+mn-lt"/>
              </a:rPr>
              <a:t>Authorization</a:t>
            </a:r>
            <a:r>
              <a:rPr lang="hu-HU" sz="1400" dirty="0">
                <a:ea typeface="+mn-lt"/>
                <a:cs typeface="+mn-lt"/>
              </a:rPr>
              <a:t>: </a:t>
            </a:r>
            <a:r>
              <a:rPr lang="hu-HU" sz="1400" dirty="0" err="1">
                <a:ea typeface="+mn-lt"/>
                <a:cs typeface="+mn-lt"/>
              </a:rPr>
              <a:t>Bearer</a:t>
            </a:r>
            <a:r>
              <a:rPr lang="hu-HU" sz="1400" dirty="0">
                <a:ea typeface="+mn-lt"/>
                <a:cs typeface="+mn-lt"/>
              </a:rPr>
              <a:t> ... </a:t>
            </a:r>
            <a:r>
              <a:rPr lang="hu-HU" sz="1400" dirty="0" err="1">
                <a:ea typeface="+mn-lt"/>
                <a:cs typeface="+mn-lt"/>
              </a:rPr>
              <a:t>headerrel</a:t>
            </a:r>
            <a:r>
              <a:rPr lang="hu-HU" sz="1400" dirty="0">
                <a:ea typeface="+mn-lt"/>
                <a:cs typeface="+mn-lt"/>
              </a:rPr>
              <a:t> küldi.</a:t>
            </a:r>
            <a:endParaRPr lang="hu-HU" sz="1400" dirty="0"/>
          </a:p>
          <a:p>
            <a:pPr>
              <a:buNone/>
            </a:pPr>
            <a:r>
              <a:rPr lang="hu-HU" sz="1400" dirty="0">
                <a:ea typeface="+mn-lt"/>
                <a:cs typeface="+mn-lt"/>
              </a:rPr>
              <a:t>A backend ebből azonosítja a felhasználót.</a:t>
            </a:r>
          </a:p>
          <a:p>
            <a:pPr>
              <a:buNone/>
            </a:pPr>
            <a:r>
              <a:rPr lang="hu-HU" sz="1400" b="1" dirty="0" err="1">
                <a:ea typeface="+mn-lt"/>
                <a:cs typeface="+mn-lt"/>
              </a:rPr>
              <a:t>Restful</a:t>
            </a:r>
            <a:r>
              <a:rPr lang="hu-HU" sz="1400" b="1" dirty="0">
                <a:ea typeface="+mn-lt"/>
                <a:cs typeface="+mn-lt"/>
              </a:rPr>
              <a:t> back </a:t>
            </a:r>
            <a:r>
              <a:rPr lang="hu-HU" sz="1400" b="1" dirty="0" err="1">
                <a:ea typeface="+mn-lt"/>
                <a:cs typeface="+mn-lt"/>
              </a:rPr>
              <a:t>api</a:t>
            </a:r>
            <a:r>
              <a:rPr lang="hu-HU" sz="1400" b="1" dirty="0">
                <a:ea typeface="+mn-lt"/>
                <a:cs typeface="+mn-lt"/>
              </a:rPr>
              <a:t> </a:t>
            </a:r>
            <a:r>
              <a:rPr lang="hu-HU" sz="1400" b="1" dirty="0" err="1">
                <a:ea typeface="+mn-lt"/>
                <a:cs typeface="+mn-lt"/>
              </a:rPr>
              <a:t>entity</a:t>
            </a:r>
            <a:r>
              <a:rPr lang="hu-HU" sz="1400" b="1" dirty="0">
                <a:ea typeface="+mn-lt"/>
                <a:cs typeface="+mn-lt"/>
              </a:rPr>
              <a:t> </a:t>
            </a:r>
            <a:r>
              <a:rPr lang="hu-HU" sz="1400" b="1" dirty="0" err="1">
                <a:ea typeface="+mn-lt"/>
                <a:cs typeface="+mn-lt"/>
              </a:rPr>
              <a:t>framework</a:t>
            </a:r>
            <a:r>
              <a:rPr lang="hu-HU" sz="1400" b="1" dirty="0">
                <a:ea typeface="+mn-lt"/>
                <a:cs typeface="+mn-lt"/>
              </a:rPr>
              <a:t> </a:t>
            </a:r>
            <a:r>
              <a:rPr lang="hu-HU" sz="1400" b="1" dirty="0" err="1">
                <a:ea typeface="+mn-lt"/>
                <a:cs typeface="+mn-lt"/>
              </a:rPr>
              <a:t>orm</a:t>
            </a:r>
            <a:r>
              <a:rPr lang="hu-HU" sz="1400" b="1" dirty="0">
                <a:ea typeface="+mn-lt"/>
                <a:cs typeface="+mn-lt"/>
              </a:rPr>
              <a:t> keretrendszerrel készült</a:t>
            </a:r>
          </a:p>
          <a:p>
            <a:pPr>
              <a:buNone/>
            </a:pPr>
            <a:endParaRPr lang="hu-HU" sz="1400" dirty="0">
              <a:ea typeface="+mn-lt"/>
              <a:cs typeface="+mn-lt"/>
            </a:endParaRPr>
          </a:p>
          <a:p>
            <a:pPr>
              <a:buNone/>
            </a:pPr>
            <a:r>
              <a:rPr lang="hu-HU" sz="1400" dirty="0">
                <a:ea typeface="+mn-lt"/>
                <a:cs typeface="+mn-lt"/>
              </a:rPr>
              <a:t>A backendet </a:t>
            </a:r>
            <a:r>
              <a:rPr lang="hu-HU" sz="1400" dirty="0" err="1">
                <a:ea typeface="+mn-lt"/>
                <a:cs typeface="+mn-lt"/>
              </a:rPr>
              <a:t>domainenként</a:t>
            </a:r>
            <a:r>
              <a:rPr lang="hu-HU" sz="1400" dirty="0">
                <a:ea typeface="+mn-lt"/>
                <a:cs typeface="+mn-lt"/>
              </a:rPr>
              <a:t> bontottátok </a:t>
            </a:r>
            <a:r>
              <a:rPr lang="hu-HU" sz="1400" b="1" dirty="0">
                <a:ea typeface="+mn-lt"/>
                <a:cs typeface="+mn-lt"/>
              </a:rPr>
              <a:t>(Auth, </a:t>
            </a:r>
            <a:r>
              <a:rPr lang="hu-HU" sz="1400" b="1" dirty="0" err="1">
                <a:ea typeface="+mn-lt"/>
                <a:cs typeface="+mn-lt"/>
              </a:rPr>
              <a:t>Profile</a:t>
            </a:r>
            <a:r>
              <a:rPr lang="hu-HU" sz="1400" b="1" dirty="0">
                <a:ea typeface="+mn-lt"/>
                <a:cs typeface="+mn-lt"/>
              </a:rPr>
              <a:t>, </a:t>
            </a:r>
            <a:r>
              <a:rPr lang="hu-HU" sz="1400" b="1" dirty="0" err="1">
                <a:ea typeface="+mn-lt"/>
                <a:cs typeface="+mn-lt"/>
              </a:rPr>
              <a:t>Food</a:t>
            </a:r>
            <a:r>
              <a:rPr lang="hu-HU" sz="1400" b="1" dirty="0">
                <a:ea typeface="+mn-lt"/>
                <a:cs typeface="+mn-lt"/>
              </a:rPr>
              <a:t>, </a:t>
            </a:r>
            <a:r>
              <a:rPr lang="hu-HU" sz="1400" b="1" dirty="0" err="1">
                <a:ea typeface="+mn-lt"/>
                <a:cs typeface="+mn-lt"/>
              </a:rPr>
              <a:t>Workout</a:t>
            </a:r>
            <a:r>
              <a:rPr lang="hu-HU" sz="1400" b="1" dirty="0">
                <a:ea typeface="+mn-lt"/>
                <a:cs typeface="+mn-lt"/>
              </a:rPr>
              <a:t>, </a:t>
            </a:r>
            <a:r>
              <a:rPr lang="hu-HU" sz="1400" b="1" dirty="0" err="1">
                <a:ea typeface="+mn-lt"/>
                <a:cs typeface="+mn-lt"/>
              </a:rPr>
              <a:t>Skin</a:t>
            </a:r>
            <a:r>
              <a:rPr lang="hu-HU" sz="1400" b="1" dirty="0">
                <a:ea typeface="+mn-lt"/>
                <a:cs typeface="+mn-lt"/>
              </a:rPr>
              <a:t>, </a:t>
            </a:r>
            <a:r>
              <a:rPr lang="hu-HU" sz="1400" b="1" dirty="0" err="1">
                <a:ea typeface="+mn-lt"/>
                <a:cs typeface="+mn-lt"/>
              </a:rPr>
              <a:t>Mental</a:t>
            </a:r>
            <a:r>
              <a:rPr lang="hu-HU" sz="1400" b="1" dirty="0">
                <a:ea typeface="+mn-lt"/>
                <a:cs typeface="+mn-lt"/>
              </a:rPr>
              <a:t>)</a:t>
            </a:r>
            <a:r>
              <a:rPr lang="hu-HU" sz="1400" dirty="0">
                <a:ea typeface="+mn-lt"/>
                <a:cs typeface="+mn-lt"/>
              </a:rPr>
              <a:t>, így moduláris és könnyen bővíthető.</a:t>
            </a:r>
            <a:endParaRPr lang="hu-HU" sz="1400" dirty="0"/>
          </a:p>
          <a:p>
            <a:pPr>
              <a:buNone/>
            </a:pPr>
            <a:r>
              <a:rPr lang="hu-HU" sz="1400" dirty="0">
                <a:ea typeface="+mn-lt"/>
                <a:cs typeface="+mn-lt"/>
              </a:rPr>
              <a:t>Az adatmodell központja a </a:t>
            </a:r>
            <a:r>
              <a:rPr lang="hu-HU" sz="1400" b="1" dirty="0" err="1">
                <a:ea typeface="+mn-lt"/>
                <a:cs typeface="+mn-lt"/>
              </a:rPr>
              <a:t>user</a:t>
            </a:r>
            <a:r>
              <a:rPr lang="hu-HU" sz="1400" dirty="0">
                <a:ea typeface="+mn-lt"/>
                <a:cs typeface="+mn-lt"/>
              </a:rPr>
              <a:t>, minden adat </a:t>
            </a:r>
            <a:r>
              <a:rPr lang="hu-HU" sz="1400" b="1" dirty="0" err="1">
                <a:ea typeface="+mn-lt"/>
                <a:cs typeface="+mn-lt"/>
              </a:rPr>
              <a:t>user_id</a:t>
            </a:r>
            <a:r>
              <a:rPr lang="hu-HU" sz="1400" dirty="0">
                <a:ea typeface="+mn-lt"/>
                <a:cs typeface="+mn-lt"/>
              </a:rPr>
              <a:t>-hoz kötött, </a:t>
            </a:r>
            <a:r>
              <a:rPr lang="hu-HU" sz="1400" b="1" dirty="0" err="1">
                <a:ea typeface="+mn-lt"/>
                <a:cs typeface="+mn-lt"/>
              </a:rPr>
              <a:t>routine_id</a:t>
            </a:r>
            <a:r>
              <a:rPr lang="hu-HU" sz="1400" dirty="0">
                <a:ea typeface="+mn-lt"/>
                <a:cs typeface="+mn-lt"/>
              </a:rPr>
              <a:t> kapcsolatokkal, napi szintű </a:t>
            </a:r>
            <a:r>
              <a:rPr lang="hu-HU" sz="1400" dirty="0" err="1">
                <a:ea typeface="+mn-lt"/>
                <a:cs typeface="+mn-lt"/>
              </a:rPr>
              <a:t>lekérdezhetőséggel</a:t>
            </a:r>
            <a:r>
              <a:rPr lang="hu-HU" sz="1400" dirty="0">
                <a:ea typeface="+mn-lt"/>
                <a:cs typeface="+mn-lt"/>
              </a:rPr>
              <a:t>.</a:t>
            </a:r>
            <a:endParaRPr lang="hu-HU" sz="1400" dirty="0"/>
          </a:p>
          <a:p>
            <a:pPr>
              <a:buNone/>
            </a:pPr>
            <a:r>
              <a:rPr lang="hu-HU" sz="1400" dirty="0">
                <a:ea typeface="+mn-lt"/>
                <a:cs typeface="+mn-lt"/>
              </a:rPr>
              <a:t>Minden modul egységes API mintát követ: mentés, lekérés, törlés, valamint </a:t>
            </a:r>
            <a:r>
              <a:rPr lang="hu-HU" sz="1400" dirty="0" err="1">
                <a:ea typeface="+mn-lt"/>
                <a:cs typeface="+mn-lt"/>
              </a:rPr>
              <a:t>routine</a:t>
            </a:r>
            <a:r>
              <a:rPr lang="hu-HU" sz="1400" dirty="0">
                <a:ea typeface="+mn-lt"/>
                <a:cs typeface="+mn-lt"/>
              </a:rPr>
              <a:t> </a:t>
            </a:r>
            <a:r>
              <a:rPr lang="hu-HU" sz="1400" b="1" dirty="0">
                <a:ea typeface="+mn-lt"/>
                <a:cs typeface="+mn-lt"/>
              </a:rPr>
              <a:t>(terv)</a:t>
            </a:r>
            <a:r>
              <a:rPr lang="hu-HU" sz="1400" dirty="0">
                <a:ea typeface="+mn-lt"/>
                <a:cs typeface="+mn-lt"/>
              </a:rPr>
              <a:t> és </a:t>
            </a:r>
            <a:r>
              <a:rPr lang="hu-HU" sz="1400" dirty="0" err="1">
                <a:ea typeface="+mn-lt"/>
                <a:cs typeface="+mn-lt"/>
              </a:rPr>
              <a:t>tracking</a:t>
            </a:r>
            <a:r>
              <a:rPr lang="hu-HU" sz="1400" dirty="0">
                <a:ea typeface="+mn-lt"/>
                <a:cs typeface="+mn-lt"/>
              </a:rPr>
              <a:t> </a:t>
            </a:r>
            <a:r>
              <a:rPr lang="hu-HU" sz="1400" b="1" dirty="0">
                <a:ea typeface="+mn-lt"/>
                <a:cs typeface="+mn-lt"/>
              </a:rPr>
              <a:t>(napi végrehajtás).</a:t>
            </a:r>
            <a:endParaRPr lang="hu-HU" sz="1400" dirty="0"/>
          </a:p>
          <a:p>
            <a:pPr>
              <a:buNone/>
            </a:pPr>
            <a:r>
              <a:rPr lang="hu-HU" sz="1400" dirty="0">
                <a:ea typeface="+mn-lt"/>
                <a:cs typeface="+mn-lt"/>
              </a:rPr>
              <a:t>A rendszer JWT </a:t>
            </a:r>
            <a:r>
              <a:rPr lang="hu-HU" sz="1400" dirty="0" err="1">
                <a:ea typeface="+mn-lt"/>
                <a:cs typeface="+mn-lt"/>
              </a:rPr>
              <a:t>token</a:t>
            </a:r>
            <a:r>
              <a:rPr lang="hu-HU" sz="1400" dirty="0">
                <a:ea typeface="+mn-lt"/>
                <a:cs typeface="+mn-lt"/>
              </a:rPr>
              <a:t> alapú hitelesítést használ, </a:t>
            </a:r>
            <a:r>
              <a:rPr lang="hu-HU" sz="1400" dirty="0" err="1">
                <a:ea typeface="+mn-lt"/>
                <a:cs typeface="+mn-lt"/>
              </a:rPr>
              <a:t>middleware</a:t>
            </a:r>
            <a:r>
              <a:rPr lang="hu-HU" sz="1400" dirty="0">
                <a:ea typeface="+mn-lt"/>
                <a:cs typeface="+mn-lt"/>
              </a:rPr>
              <a:t> biztosítja, hogy a felhasználók csak a saját adataikat érjék el.</a:t>
            </a:r>
            <a:endParaRPr lang="hu-HU" sz="1400" dirty="0"/>
          </a:p>
          <a:p>
            <a:pPr>
              <a:buNone/>
            </a:pPr>
            <a:r>
              <a:rPr lang="hu-HU" sz="1400" dirty="0">
                <a:ea typeface="+mn-lt"/>
                <a:cs typeface="+mn-lt"/>
              </a:rPr>
              <a:t>A backend üzleti logikát is tartalmaz </a:t>
            </a:r>
            <a:r>
              <a:rPr lang="hu-HU" sz="1400" b="1" dirty="0">
                <a:ea typeface="+mn-lt"/>
                <a:cs typeface="+mn-lt"/>
              </a:rPr>
              <a:t>(statisztikák, validáció)</a:t>
            </a:r>
            <a:r>
              <a:rPr lang="hu-HU" sz="1400" dirty="0">
                <a:ea typeface="+mn-lt"/>
                <a:cs typeface="+mn-lt"/>
              </a:rPr>
              <a:t>, a </a:t>
            </a:r>
            <a:r>
              <a:rPr lang="hu-HU" sz="1400" dirty="0" err="1">
                <a:ea typeface="+mn-lt"/>
                <a:cs typeface="+mn-lt"/>
              </a:rPr>
              <a:t>Swagger</a:t>
            </a:r>
            <a:r>
              <a:rPr lang="hu-HU" sz="1400" dirty="0">
                <a:ea typeface="+mn-lt"/>
                <a:cs typeface="+mn-lt"/>
              </a:rPr>
              <a:t> pedig automatikus dokumentációt és könnyebb tesztelést biztosít.</a:t>
            </a:r>
            <a:endParaRPr lang="hu-HU" sz="1400" dirty="0"/>
          </a:p>
        </p:txBody>
      </p:sp>
    </p:spTree>
    <p:extLst>
      <p:ext uri="{BB962C8B-B14F-4D97-AF65-F5344CB8AC3E}">
        <p14:creationId xmlns:p14="http://schemas.microsoft.com/office/powerpoint/2010/main" val="32194061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5FEC7A34-539B-4949-BC75-F49D5FFC9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919FCF3F-C306-417E-8618-DF363C9A3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2316" y="909637"/>
            <a:ext cx="5979057" cy="1316736"/>
          </a:xfrm>
        </p:spPr>
        <p:txBody>
          <a:bodyPr>
            <a:normAutofit/>
          </a:bodyPr>
          <a:lstStyle/>
          <a:p>
            <a:r>
              <a:rPr lang="hu-HU"/>
              <a:t>A backend</a:t>
            </a:r>
          </a:p>
        </p:txBody>
      </p:sp>
      <p:pic>
        <p:nvPicPr>
          <p:cNvPr id="4" name="Kép 3" descr="A képen szöveg, képernyőkép, szoftver látható&#10;&#10;Lehet, hogy az AI által létrehozott tartalom helytelen.">
            <a:extLst>
              <a:ext uri="{FF2B5EF4-FFF2-40B4-BE49-F238E27FC236}">
                <a16:creationId xmlns:a16="http://schemas.microsoft.com/office/drawing/2014/main" id="{D0D1F78B-3090-7BC8-4230-99F1A81DCB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96" b="2"/>
          <a:stretch>
            <a:fillRect/>
          </a:stretch>
        </p:blipFill>
        <p:spPr>
          <a:xfrm>
            <a:off x="800101" y="723900"/>
            <a:ext cx="4076700" cy="2573610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A4B2C18-146D-48F9-BB98-D4E4D70A5A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56418" y="722376"/>
            <a:ext cx="583946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Kép 4" descr="A képen szöveg, képernyőkép, szoftver, Operációs rendszer látható&#10;&#10;Lehet, hogy az AI által létrehozott tartalom helytelen.">
            <a:extLst>
              <a:ext uri="{FF2B5EF4-FFF2-40B4-BE49-F238E27FC236}">
                <a16:creationId xmlns:a16="http://schemas.microsoft.com/office/drawing/2014/main" id="{E0400DD4-E286-2F07-A56E-2F06F262B6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4856" b="-2"/>
          <a:stretch>
            <a:fillRect/>
          </a:stretch>
        </p:blipFill>
        <p:spPr>
          <a:xfrm>
            <a:off x="800101" y="3560491"/>
            <a:ext cx="4076700" cy="2573610"/>
          </a:xfrm>
          <a:prstGeom prst="rect">
            <a:avLst/>
          </a:prstGeom>
        </p:spPr>
      </p:pic>
      <p:sp>
        <p:nvSpPr>
          <p:cNvPr id="3" name="Tartalom helye 2">
            <a:extLst>
              <a:ext uri="{FF2B5EF4-FFF2-40B4-BE49-F238E27FC236}">
                <a16:creationId xmlns:a16="http://schemas.microsoft.com/office/drawing/2014/main" id="{CAE14591-4256-9FB0-E488-D74A0705CE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1800" y="2226374"/>
            <a:ext cx="5979565" cy="360321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hu-HU" sz="1700">
                <a:ea typeface="+mn-lt"/>
                <a:cs typeface="+mn-lt"/>
              </a:rPr>
              <a:t>Az Ascension API 6 fő modulból áll: </a:t>
            </a:r>
            <a:r>
              <a:rPr lang="hu-HU" sz="1700" b="1">
                <a:ea typeface="+mn-lt"/>
                <a:cs typeface="+mn-lt"/>
              </a:rPr>
              <a:t>Auth</a:t>
            </a:r>
            <a:r>
              <a:rPr lang="hu-HU" sz="1700">
                <a:ea typeface="+mn-lt"/>
                <a:cs typeface="+mn-lt"/>
              </a:rPr>
              <a:t>, </a:t>
            </a:r>
            <a:r>
              <a:rPr lang="hu-HU" sz="1700" b="1">
                <a:ea typeface="+mn-lt"/>
                <a:cs typeface="+mn-lt"/>
              </a:rPr>
              <a:t>Profile</a:t>
            </a:r>
            <a:r>
              <a:rPr lang="hu-HU" sz="1700">
                <a:ea typeface="+mn-lt"/>
                <a:cs typeface="+mn-lt"/>
              </a:rPr>
              <a:t>, </a:t>
            </a:r>
            <a:r>
              <a:rPr lang="hu-HU" sz="1700" b="1">
                <a:ea typeface="+mn-lt"/>
                <a:cs typeface="+mn-lt"/>
              </a:rPr>
              <a:t>Food</a:t>
            </a:r>
            <a:r>
              <a:rPr lang="hu-HU" sz="1700">
                <a:ea typeface="+mn-lt"/>
                <a:cs typeface="+mn-lt"/>
              </a:rPr>
              <a:t>, </a:t>
            </a:r>
            <a:r>
              <a:rPr lang="hu-HU" sz="1700" b="1">
                <a:ea typeface="+mn-lt"/>
                <a:cs typeface="+mn-lt"/>
              </a:rPr>
              <a:t>Workout</a:t>
            </a:r>
            <a:r>
              <a:rPr lang="hu-HU" sz="1700">
                <a:ea typeface="+mn-lt"/>
                <a:cs typeface="+mn-lt"/>
              </a:rPr>
              <a:t>, </a:t>
            </a:r>
            <a:r>
              <a:rPr lang="hu-HU" sz="1700" b="1">
                <a:ea typeface="+mn-lt"/>
                <a:cs typeface="+mn-lt"/>
              </a:rPr>
              <a:t>Skin</a:t>
            </a:r>
            <a:r>
              <a:rPr lang="hu-HU" sz="1700">
                <a:ea typeface="+mn-lt"/>
                <a:cs typeface="+mn-lt"/>
              </a:rPr>
              <a:t> és </a:t>
            </a:r>
            <a:r>
              <a:rPr lang="hu-HU" sz="1700" b="1">
                <a:ea typeface="+mn-lt"/>
                <a:cs typeface="+mn-lt"/>
              </a:rPr>
              <a:t>Mental</a:t>
            </a:r>
            <a:r>
              <a:rPr lang="hu-HU" sz="1700">
                <a:ea typeface="+mn-lt"/>
                <a:cs typeface="+mn-lt"/>
              </a:rPr>
              <a:t>. A Swagger célja ezek egységes, átlátható dokumentálása és tesztelése.</a:t>
            </a:r>
            <a:endParaRPr lang="hu-HU" sz="1700"/>
          </a:p>
          <a:p>
            <a:pPr>
              <a:lnSpc>
                <a:spcPct val="100000"/>
              </a:lnSpc>
              <a:buNone/>
            </a:pPr>
            <a:r>
              <a:rPr lang="hu-HU" sz="1700">
                <a:ea typeface="+mn-lt"/>
                <a:cs typeface="+mn-lt"/>
              </a:rPr>
              <a:t>Az </a:t>
            </a:r>
            <a:r>
              <a:rPr lang="hu-HU" sz="1700" b="1">
                <a:ea typeface="+mn-lt"/>
                <a:cs typeface="+mn-lt"/>
              </a:rPr>
              <a:t>Auth</a:t>
            </a:r>
            <a:r>
              <a:rPr lang="hu-HU" sz="1700">
                <a:ea typeface="+mn-lt"/>
                <a:cs typeface="+mn-lt"/>
              </a:rPr>
              <a:t> kezeli a belépést (login, register, token), a </a:t>
            </a:r>
            <a:r>
              <a:rPr lang="hu-HU" sz="1700" b="1">
                <a:ea typeface="+mn-lt"/>
                <a:cs typeface="+mn-lt"/>
              </a:rPr>
              <a:t>Profile</a:t>
            </a:r>
            <a:r>
              <a:rPr lang="hu-HU" sz="1700">
                <a:ea typeface="+mn-lt"/>
                <a:cs typeface="+mn-lt"/>
              </a:rPr>
              <a:t> a felhasználói adatokat. A </a:t>
            </a:r>
            <a:r>
              <a:rPr lang="hu-HU" sz="1700" b="1">
                <a:ea typeface="+mn-lt"/>
                <a:cs typeface="+mn-lt"/>
              </a:rPr>
              <a:t>Food</a:t>
            </a:r>
            <a:r>
              <a:rPr lang="hu-HU" sz="1700">
                <a:ea typeface="+mn-lt"/>
                <a:cs typeface="+mn-lt"/>
              </a:rPr>
              <a:t> és </a:t>
            </a:r>
            <a:r>
              <a:rPr lang="hu-HU" sz="1700" b="1">
                <a:ea typeface="+mn-lt"/>
                <a:cs typeface="+mn-lt"/>
              </a:rPr>
              <a:t>Workout</a:t>
            </a:r>
            <a:r>
              <a:rPr lang="hu-HU" sz="1700">
                <a:ea typeface="+mn-lt"/>
                <a:cs typeface="+mn-lt"/>
              </a:rPr>
              <a:t> modulok a napi étkezés és edzés rögzítését, lekérését és törlését biztosítják.</a:t>
            </a:r>
            <a:endParaRPr lang="hu-HU" sz="1700"/>
          </a:p>
          <a:p>
            <a:pPr>
              <a:lnSpc>
                <a:spcPct val="100000"/>
              </a:lnSpc>
              <a:buNone/>
            </a:pPr>
            <a:r>
              <a:rPr lang="hu-HU" sz="1700">
                <a:ea typeface="+mn-lt"/>
                <a:cs typeface="+mn-lt"/>
              </a:rPr>
              <a:t>A </a:t>
            </a:r>
            <a:r>
              <a:rPr lang="hu-HU" sz="1700" b="1">
                <a:ea typeface="+mn-lt"/>
                <a:cs typeface="+mn-lt"/>
              </a:rPr>
              <a:t>Skin</a:t>
            </a:r>
            <a:r>
              <a:rPr lang="hu-HU" sz="1700">
                <a:ea typeface="+mn-lt"/>
                <a:cs typeface="+mn-lt"/>
              </a:rPr>
              <a:t> és </a:t>
            </a:r>
            <a:r>
              <a:rPr lang="hu-HU" sz="1700" b="1">
                <a:ea typeface="+mn-lt"/>
                <a:cs typeface="+mn-lt"/>
              </a:rPr>
              <a:t>Mental </a:t>
            </a:r>
            <a:r>
              <a:rPr lang="hu-HU" sz="1700">
                <a:ea typeface="+mn-lt"/>
                <a:cs typeface="+mn-lt"/>
              </a:rPr>
              <a:t>modulok rutinokra és napi teljesítésük követésére épülnek (routine + tracking + history).</a:t>
            </a:r>
            <a:endParaRPr lang="hu-HU" sz="1700"/>
          </a:p>
          <a:p>
            <a:pPr>
              <a:lnSpc>
                <a:spcPct val="100000"/>
              </a:lnSpc>
              <a:buNone/>
            </a:pPr>
            <a:r>
              <a:rPr lang="hu-HU" sz="1700">
                <a:ea typeface="+mn-lt"/>
                <a:cs typeface="+mn-lt"/>
              </a:rPr>
              <a:t>A rendszer tokenalapú védelmet használ, és a frontend dashboard egyesíti az adatokat egy átfogó nézetben.</a:t>
            </a:r>
            <a:endParaRPr lang="hu-HU" sz="170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51784B1-4DE1-43A3-95B9-A0EB6529F0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55466" y="6156846"/>
            <a:ext cx="587453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74347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30E190B-2BED-F56B-2F68-1AA383B93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780776" cy="1180210"/>
          </a:xfrm>
        </p:spPr>
        <p:txBody>
          <a:bodyPr>
            <a:normAutofit/>
          </a:bodyPr>
          <a:lstStyle/>
          <a:p>
            <a:r>
              <a:rPr lang="hu-HU"/>
              <a:t>AZ ADMIN PANEL</a:t>
            </a:r>
            <a:endParaRPr lang="hu-HU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E495065-8864-87FB-2BCC-254769963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812F6B0-23C0-DD7D-82C2-1D9D0E42FB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4960" y="2346960"/>
            <a:ext cx="4819903" cy="3775456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Admin </a:t>
            </a:r>
            <a:r>
              <a:rPr lang="en-US" b="1" dirty="0" err="1">
                <a:ea typeface="+mn-lt"/>
                <a:cs typeface="+mn-lt"/>
              </a:rPr>
              <a:t>bejelentkezés</a:t>
            </a:r>
            <a:r>
              <a:rPr lang="en-US" dirty="0">
                <a:ea typeface="+mn-lt"/>
                <a:cs typeface="+mn-lt"/>
              </a:rPr>
              <a:t>: </a:t>
            </a:r>
            <a:r>
              <a:rPr lang="en-US" dirty="0" err="1">
                <a:ea typeface="+mn-lt"/>
                <a:cs typeface="+mn-lt"/>
              </a:rPr>
              <a:t>csak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jogosult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felhasználó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fér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hozzá</a:t>
            </a:r>
            <a:r>
              <a:rPr lang="en-US" dirty="0">
                <a:ea typeface="+mn-lt"/>
                <a:cs typeface="+mn-lt"/>
              </a:rPr>
              <a:t> a </a:t>
            </a:r>
            <a:r>
              <a:rPr lang="en-US" dirty="0" err="1">
                <a:ea typeface="+mn-lt"/>
                <a:cs typeface="+mn-lt"/>
              </a:rPr>
              <a:t>kezelőfelülethez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Dashboard </a:t>
            </a:r>
            <a:r>
              <a:rPr lang="en-US" b="1" dirty="0" err="1">
                <a:ea typeface="+mn-lt"/>
                <a:cs typeface="+mn-lt"/>
              </a:rPr>
              <a:t>statisztikák</a:t>
            </a:r>
            <a:r>
              <a:rPr lang="en-US" b="1" dirty="0">
                <a:ea typeface="+mn-lt"/>
                <a:cs typeface="+mn-lt"/>
              </a:rPr>
              <a:t>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egy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helyen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látod</a:t>
            </a:r>
            <a:r>
              <a:rPr lang="en-US" dirty="0">
                <a:ea typeface="+mn-lt"/>
                <a:cs typeface="+mn-lt"/>
              </a:rPr>
              <a:t> a </a:t>
            </a:r>
            <a:r>
              <a:rPr lang="en-US" dirty="0" err="1">
                <a:ea typeface="+mn-lt"/>
                <a:cs typeface="+mn-lt"/>
              </a:rPr>
              <a:t>rendszer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állapotát</a:t>
            </a:r>
            <a:r>
              <a:rPr lang="en-US" dirty="0">
                <a:ea typeface="+mn-lt"/>
                <a:cs typeface="+mn-lt"/>
              </a:rPr>
              <a:t> (</a:t>
            </a:r>
            <a:r>
              <a:rPr lang="en-US" dirty="0" err="1">
                <a:ea typeface="+mn-lt"/>
                <a:cs typeface="+mn-lt"/>
              </a:rPr>
              <a:t>felhasználók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étel</a:t>
            </a:r>
            <a:r>
              <a:rPr lang="en-US" dirty="0">
                <a:ea typeface="+mn-lt"/>
                <a:cs typeface="+mn-lt"/>
              </a:rPr>
              <a:t>- </a:t>
            </a:r>
            <a:r>
              <a:rPr lang="en-US" dirty="0" err="1">
                <a:ea typeface="+mn-lt"/>
                <a:cs typeface="+mn-lt"/>
              </a:rPr>
              <a:t>és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edzésbejegyzések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kalóriaösszesítések</a:t>
            </a:r>
            <a:r>
              <a:rPr lang="en-US" dirty="0">
                <a:ea typeface="+mn-lt"/>
                <a:cs typeface="+mn-lt"/>
              </a:rPr>
              <a:t>, skin rutin </a:t>
            </a:r>
            <a:r>
              <a:rPr lang="en-US" dirty="0" err="1">
                <a:ea typeface="+mn-lt"/>
                <a:cs typeface="+mn-lt"/>
              </a:rPr>
              <a:t>adatok</a:t>
            </a:r>
            <a:r>
              <a:rPr lang="en-US" dirty="0">
                <a:ea typeface="+mn-lt"/>
                <a:cs typeface="+mn-lt"/>
              </a:rPr>
              <a:t>).</a:t>
            </a:r>
            <a:endParaRPr lang="en-US" dirty="0"/>
          </a:p>
          <a:p>
            <a:pPr marL="0" indent="0">
              <a:buNone/>
            </a:pPr>
            <a:r>
              <a:rPr lang="en-US" b="1" dirty="0" err="1">
                <a:ea typeface="+mn-lt"/>
                <a:cs typeface="+mn-lt"/>
              </a:rPr>
              <a:t>Felhasználókezelés</a:t>
            </a:r>
            <a:r>
              <a:rPr lang="en-US" b="1" dirty="0">
                <a:ea typeface="+mn-lt"/>
                <a:cs typeface="+mn-lt"/>
              </a:rPr>
              <a:t>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listázza</a:t>
            </a:r>
            <a:r>
              <a:rPr lang="en-US" dirty="0">
                <a:ea typeface="+mn-lt"/>
                <a:cs typeface="+mn-lt"/>
              </a:rPr>
              <a:t> a </a:t>
            </a:r>
            <a:r>
              <a:rPr lang="en-US" dirty="0" err="1">
                <a:ea typeface="+mn-lt"/>
                <a:cs typeface="+mn-lt"/>
              </a:rPr>
              <a:t>usereket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alapadatokkal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és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aktivitási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mutatókkal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marL="0" indent="0">
              <a:buNone/>
            </a:pPr>
            <a:r>
              <a:rPr lang="en-US" b="1" dirty="0" err="1">
                <a:ea typeface="+mn-lt"/>
                <a:cs typeface="+mn-lt"/>
              </a:rPr>
              <a:t>Felhasználó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törlés</a:t>
            </a:r>
            <a:r>
              <a:rPr lang="en-US" b="1" dirty="0">
                <a:ea typeface="+mn-lt"/>
                <a:cs typeface="+mn-lt"/>
              </a:rPr>
              <a:t>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kijelölt</a:t>
            </a:r>
            <a:r>
              <a:rPr lang="en-US" dirty="0">
                <a:ea typeface="+mn-lt"/>
                <a:cs typeface="+mn-lt"/>
              </a:rPr>
              <a:t> user </a:t>
            </a:r>
            <a:r>
              <a:rPr lang="en-US" dirty="0" err="1">
                <a:ea typeface="+mn-lt"/>
                <a:cs typeface="+mn-lt"/>
              </a:rPr>
              <a:t>biztonságos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törlése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megerősítéssel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Mire </a:t>
            </a:r>
            <a:r>
              <a:rPr lang="en-US" b="1" dirty="0" err="1">
                <a:ea typeface="+mn-lt"/>
                <a:cs typeface="+mn-lt"/>
              </a:rPr>
              <a:t>jó</a:t>
            </a:r>
            <a:r>
              <a:rPr lang="en-US" b="1" dirty="0">
                <a:ea typeface="+mn-lt"/>
                <a:cs typeface="+mn-lt"/>
              </a:rPr>
              <a:t>: </a:t>
            </a:r>
            <a:r>
              <a:rPr lang="en-US" dirty="0" err="1">
                <a:ea typeface="+mn-lt"/>
                <a:cs typeface="+mn-lt"/>
              </a:rPr>
              <a:t>gyors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üzemeltetői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rálátást</a:t>
            </a:r>
            <a:r>
              <a:rPr lang="en-US" dirty="0">
                <a:ea typeface="+mn-lt"/>
                <a:cs typeface="+mn-lt"/>
              </a:rPr>
              <a:t> ad, </a:t>
            </a:r>
            <a:r>
              <a:rPr lang="en-US" dirty="0" err="1">
                <a:ea typeface="+mn-lt"/>
                <a:cs typeface="+mn-lt"/>
              </a:rPr>
              <a:t>segít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adatkarbantartásban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és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hibás</a:t>
            </a:r>
            <a:r>
              <a:rPr lang="en-US" dirty="0">
                <a:ea typeface="+mn-lt"/>
                <a:cs typeface="+mn-lt"/>
              </a:rPr>
              <a:t>/</a:t>
            </a:r>
            <a:r>
              <a:rPr lang="en-US" dirty="0" err="1">
                <a:ea typeface="+mn-lt"/>
                <a:cs typeface="+mn-lt"/>
              </a:rPr>
              <a:t>teszt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fiókok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takarításában</a:t>
            </a:r>
            <a:r>
              <a:rPr lang="en-US" dirty="0">
                <a:ea typeface="+mn-lt"/>
                <a:cs typeface="+mn-lt"/>
              </a:rPr>
              <a:t>.</a:t>
            </a:r>
            <a:endParaRPr lang="hu-HU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hu-HU" dirty="0">
                <a:ea typeface="+mn-lt"/>
                <a:cs typeface="+mn-lt"/>
              </a:rPr>
              <a:t>Itt a weboldalon </a:t>
            </a:r>
            <a:r>
              <a:rPr lang="hu-HU" dirty="0" err="1">
                <a:ea typeface="+mn-lt"/>
                <a:cs typeface="+mn-lt"/>
              </a:rPr>
              <a:t>regisztralt</a:t>
            </a:r>
            <a:r>
              <a:rPr lang="hu-HU" dirty="0">
                <a:ea typeface="+mn-lt"/>
                <a:cs typeface="+mn-lt"/>
              </a:rPr>
              <a:t> </a:t>
            </a:r>
            <a:r>
              <a:rPr lang="hu-HU" dirty="0" err="1">
                <a:ea typeface="+mn-lt"/>
                <a:cs typeface="+mn-lt"/>
              </a:rPr>
              <a:t>felhasznalo</a:t>
            </a:r>
            <a:r>
              <a:rPr lang="hu-HU" dirty="0">
                <a:ea typeface="+mn-lt"/>
                <a:cs typeface="+mn-lt"/>
              </a:rPr>
              <a:t> adatait tudjuk karbantartani</a:t>
            </a:r>
            <a:endParaRPr lang="en-US" dirty="0"/>
          </a:p>
        </p:txBody>
      </p:sp>
      <p:pic>
        <p:nvPicPr>
          <p:cNvPr id="3" name="Kép 2" descr="A képen szöveg, képernyőkép, képernyő, szoftver látható&#10;&#10;Lehet, hogy az AI által létrehozott tartalom helytelen.">
            <a:extLst>
              <a:ext uri="{FF2B5EF4-FFF2-40B4-BE49-F238E27FC236}">
                <a16:creationId xmlns:a16="http://schemas.microsoft.com/office/drawing/2014/main" id="{633CCC07-7B52-2576-0780-44B4EB100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967" y="2346632"/>
            <a:ext cx="5553075" cy="338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5721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EF92653-5D6D-47E6-8744-0DAF76E04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06D84057-96DC-8382-0781-7207EE35A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2" y="960594"/>
            <a:ext cx="5828114" cy="49368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000" dirty="0" err="1">
                <a:ea typeface="+mj-lt"/>
                <a:cs typeface="+mj-lt"/>
              </a:rPr>
              <a:t>Köszönjük</a:t>
            </a:r>
            <a:r>
              <a:rPr lang="en-US" sz="6000" dirty="0">
                <a:ea typeface="+mj-lt"/>
                <a:cs typeface="+mj-lt"/>
              </a:rPr>
              <a:t> a </a:t>
            </a:r>
            <a:r>
              <a:rPr lang="en-US" sz="6000" dirty="0" err="1">
                <a:ea typeface="+mj-lt"/>
                <a:cs typeface="+mj-lt"/>
              </a:rPr>
              <a:t>figyelmet</a:t>
            </a:r>
            <a:r>
              <a:rPr lang="en-US" sz="6000" dirty="0">
                <a:ea typeface="+mj-lt"/>
                <a:cs typeface="+mj-lt"/>
              </a:rPr>
              <a:t>!</a:t>
            </a:r>
            <a:endParaRPr lang="hu-HU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CA98CE3-81A7-4FFE-A047-9AA65998D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315200" y="1733549"/>
            <a:ext cx="0" cy="3390901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3907620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</TotalTime>
  <Words>1184</Words>
  <Application>Microsoft Office PowerPoint</Application>
  <PresentationFormat>Szélesvásznú</PresentationFormat>
  <Paragraphs>124</Paragraphs>
  <Slides>15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15</vt:i4>
      </vt:variant>
    </vt:vector>
  </HeadingPairs>
  <TitlesOfParts>
    <vt:vector size="19" baseType="lpstr">
      <vt:lpstr>Arial</vt:lpstr>
      <vt:lpstr>Calisto MT</vt:lpstr>
      <vt:lpstr>Univers Condensed</vt:lpstr>
      <vt:lpstr>ChronicleVTI</vt:lpstr>
      <vt:lpstr>ASCENSION</vt:lpstr>
      <vt:lpstr>Miről szól ez a prezentáció?</vt:lpstr>
      <vt:lpstr>Téma ÉS CÉLCSOPORT</vt:lpstr>
      <vt:lpstr>A FEJLESZTÉS MENETE </vt:lpstr>
      <vt:lpstr>A programnyelvek és technológiák</vt:lpstr>
      <vt:lpstr>A csapatmunka</vt:lpstr>
      <vt:lpstr>A CSAPATMUNKA</vt:lpstr>
      <vt:lpstr>A CSAPATMUNKA</vt:lpstr>
      <vt:lpstr>Funkcionális követelmények</vt:lpstr>
      <vt:lpstr>Mobilos nézet</vt:lpstr>
      <vt:lpstr>AZ ADATBÁZIS</vt:lpstr>
      <vt:lpstr>A backend</vt:lpstr>
      <vt:lpstr>A backend</vt:lpstr>
      <vt:lpstr>AZ ADMIN PANEL</vt:lpstr>
      <vt:lpstr>Köszönjük a figyelmet!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Rajna Torda Imre</cp:lastModifiedBy>
  <cp:revision>169</cp:revision>
  <dcterms:created xsi:type="dcterms:W3CDTF">2026-02-23T20:51:51Z</dcterms:created>
  <dcterms:modified xsi:type="dcterms:W3CDTF">2026-04-16T07:45:09Z</dcterms:modified>
</cp:coreProperties>
</file>