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96C1D0D-3933-4C12-8869-A154A1273FD5}" v="435" dt="2026-02-23T21:19:30.7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5" autoAdjust="0"/>
    <p:restoredTop sz="94660"/>
  </p:normalViewPr>
  <p:slideViewPr>
    <p:cSldViewPr snapToGrid="0">
      <p:cViewPr varScale="1">
        <p:scale>
          <a:sx n="86" d="100"/>
          <a:sy n="86" d="100"/>
        </p:scale>
        <p:origin x="66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0082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9479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3660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9727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2/23/2026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339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2/23/2026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174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2/23/2026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1324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0323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8474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911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4358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46856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ithub.com/orgs/Loero/repositories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F92653-5D6D-47E6-8744-0DAF76E049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800102" y="960594"/>
            <a:ext cx="5828114" cy="4936812"/>
          </a:xfrm>
        </p:spPr>
        <p:txBody>
          <a:bodyPr anchor="ctr">
            <a:normAutofit/>
          </a:bodyPr>
          <a:lstStyle/>
          <a:p>
            <a:pPr algn="r"/>
            <a:r>
              <a:rPr lang="hu-HU" sz="6000" dirty="0">
                <a:ea typeface="+mj-lt"/>
                <a:cs typeface="+mj-lt"/>
              </a:rPr>
              <a:t>ASCENSION</a:t>
            </a:r>
            <a:endParaRPr lang="hu-HU" dirty="0"/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8002185" y="1390650"/>
            <a:ext cx="3019423" cy="4076700"/>
          </a:xfrm>
        </p:spPr>
        <p:txBody>
          <a:bodyPr anchor="ctr">
            <a:normAutofit/>
          </a:bodyPr>
          <a:lstStyle/>
          <a:p>
            <a:r>
              <a:rPr lang="hu-HU" sz="2200" dirty="0" err="1">
                <a:ea typeface="+mn-lt"/>
                <a:cs typeface="+mn-lt"/>
              </a:rPr>
              <a:t>Looksmaxxing</a:t>
            </a:r>
            <a:r>
              <a:rPr lang="hu-HU" sz="2200" dirty="0">
                <a:ea typeface="+mn-lt"/>
                <a:cs typeface="+mn-lt"/>
              </a:rPr>
              <a:t> &amp; Önfejlesztő Platform</a:t>
            </a:r>
            <a:endParaRPr lang="hu-HU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CA98CE3-81A7-4FFE-A047-9AA65998D8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315200" y="1733549"/>
            <a:ext cx="0" cy="3390901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67484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BD36B57-5281-EF74-FB5A-72A8EC188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u-HU" dirty="0">
                <a:ea typeface="+mj-lt"/>
                <a:cs typeface="+mj-lt"/>
              </a:rPr>
              <a:t>Egy komplex webalkalmazás, amely ötvözi a</a:t>
            </a:r>
            <a:endParaRPr lang="hu-HU" dirty="0"/>
          </a:p>
          <a:p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DF076C6-E948-1BA5-B586-708E706AEE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hu-HU" dirty="0">
                <a:ea typeface="+mn-lt"/>
                <a:cs typeface="+mn-lt"/>
              </a:rPr>
              <a:t>- Mesterséges intelligenciát</a:t>
            </a:r>
          </a:p>
          <a:p>
            <a:r>
              <a:rPr lang="hu-HU" dirty="0">
                <a:ea typeface="+mn-lt"/>
                <a:cs typeface="+mn-lt"/>
              </a:rPr>
              <a:t>- Modern webtechnológiákat  </a:t>
            </a:r>
          </a:p>
          <a:p>
            <a:r>
              <a:rPr lang="hu-HU" dirty="0">
                <a:ea typeface="+mn-lt"/>
                <a:cs typeface="+mn-lt"/>
              </a:rPr>
              <a:t>- Személyre szabott egészségügyi tanácsadást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5825900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EFAEDA8-1962-66E4-B89F-1DDDE967F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ea typeface="+mj-lt"/>
                <a:cs typeface="+mj-lt"/>
              </a:rPr>
              <a:t>Koncepció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E5E68C1-5B94-9603-FC97-7AA6FD36B8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626480"/>
            <a:ext cx="10691265" cy="4335408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r>
              <a:rPr lang="hu-HU" dirty="0">
                <a:ea typeface="+mn-lt"/>
                <a:cs typeface="+mn-lt"/>
              </a:rPr>
              <a:t>Az </a:t>
            </a:r>
            <a:r>
              <a:rPr lang="hu-HU" dirty="0" err="1">
                <a:ea typeface="+mn-lt"/>
                <a:cs typeface="+mn-lt"/>
              </a:rPr>
              <a:t>Ascension</a:t>
            </a:r>
            <a:r>
              <a:rPr lang="hu-HU" dirty="0">
                <a:ea typeface="+mn-lt"/>
                <a:cs typeface="+mn-lt"/>
              </a:rPr>
              <a:t> egy önfejlesztő platform a "</a:t>
            </a:r>
            <a:r>
              <a:rPr lang="hu-HU" dirty="0" err="1">
                <a:ea typeface="+mn-lt"/>
                <a:cs typeface="+mn-lt"/>
              </a:rPr>
              <a:t>looksmaxxing</a:t>
            </a:r>
            <a:r>
              <a:rPr lang="hu-HU" dirty="0">
                <a:ea typeface="+mn-lt"/>
                <a:cs typeface="+mn-lt"/>
              </a:rPr>
              <a:t>" kultúra alapján, amely három pillérre épül:</a:t>
            </a:r>
          </a:p>
          <a:p>
            <a:r>
              <a:rPr lang="hu-HU" dirty="0">
                <a:ea typeface="+mn-lt"/>
                <a:cs typeface="+mn-lt"/>
              </a:rPr>
              <a:t>🏋️ **TEST** - Fizikai egészség optimalizálása</a:t>
            </a:r>
            <a:endParaRPr lang="hu-HU" dirty="0"/>
          </a:p>
          <a:p>
            <a:r>
              <a:rPr lang="hu-HU">
                <a:ea typeface="+mn-lt"/>
                <a:cs typeface="+mn-lt"/>
              </a:rPr>
              <a:t>- Kalóriaszámítás</a:t>
            </a:r>
            <a:endParaRPr lang="hu-HU"/>
          </a:p>
          <a:p>
            <a:r>
              <a:rPr lang="hu-HU">
                <a:ea typeface="+mn-lt"/>
                <a:cs typeface="+mn-lt"/>
              </a:rPr>
              <a:t>- Testösszetétel számítás (BMI, BMR, TDEE)</a:t>
            </a:r>
            <a:endParaRPr lang="hu-HU"/>
          </a:p>
          <a:p>
            <a:r>
              <a:rPr lang="hu-HU">
                <a:ea typeface="+mn-lt"/>
                <a:cs typeface="+mn-lt"/>
              </a:rPr>
              <a:t>- Alkoholfogyasztás nyomon követése</a:t>
            </a:r>
            <a:endParaRPr lang="hu-HU"/>
          </a:p>
          <a:p>
            <a:endParaRPr lang="hu-HU"/>
          </a:p>
          <a:p>
            <a:r>
              <a:rPr lang="hu-HU">
                <a:ea typeface="+mn-lt"/>
                <a:cs typeface="+mn-lt"/>
              </a:rPr>
              <a:t>🎭 **ARC** - Külső megjelenés javítása</a:t>
            </a:r>
            <a:endParaRPr lang="hu-HU"/>
          </a:p>
          <a:p>
            <a:r>
              <a:rPr lang="hu-HU">
                <a:ea typeface="+mn-lt"/>
                <a:cs typeface="+mn-lt"/>
              </a:rPr>
              <a:t>- AI-alapú bőrelemzés</a:t>
            </a:r>
            <a:endParaRPr lang="hu-HU"/>
          </a:p>
          <a:p>
            <a:r>
              <a:rPr lang="hu-HU">
                <a:ea typeface="+mn-lt"/>
                <a:cs typeface="+mn-lt"/>
              </a:rPr>
              <a:t>- Személyre szabott bőrápolási tanácsok</a:t>
            </a:r>
            <a:endParaRPr lang="hu-HU"/>
          </a:p>
          <a:p>
            <a:endParaRPr lang="hu-HU"/>
          </a:p>
          <a:p>
            <a:r>
              <a:rPr lang="hu-HU">
                <a:ea typeface="+mn-lt"/>
                <a:cs typeface="+mn-lt"/>
              </a:rPr>
              <a:t>🧠 **MENTÁL** - Mentális egészség támogatása</a:t>
            </a:r>
            <a:endParaRPr lang="hu-HU"/>
          </a:p>
          <a:p>
            <a:r>
              <a:rPr lang="hu-HU" dirty="0">
                <a:ea typeface="+mn-lt"/>
                <a:cs typeface="+mn-lt"/>
              </a:rPr>
              <a:t>- Kognitív funkciók fejlesztése</a:t>
            </a:r>
            <a:endParaRPr lang="hu-HU" dirty="0"/>
          </a:p>
          <a:p>
            <a:r>
              <a:rPr lang="hu-HU" dirty="0">
                <a:ea typeface="+mn-lt"/>
                <a:cs typeface="+mn-lt"/>
              </a:rPr>
              <a:t>- Stresszkezelés</a:t>
            </a:r>
            <a:endParaRPr lang="hu-HU" dirty="0"/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4195959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DD84B37-C2B2-BB32-1CF3-38CB07FC4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ea typeface="+mj-lt"/>
                <a:cs typeface="+mj-lt"/>
              </a:rPr>
              <a:t>PROJEKT CÉL ÉS VÍZIÓ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F967A57-52B1-AD88-CDBC-7C9EC58FD5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709724"/>
            <a:ext cx="10691265" cy="4252164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r>
              <a:rPr lang="hu-HU" dirty="0">
                <a:ea typeface="+mn-lt"/>
                <a:cs typeface="+mn-lt"/>
              </a:rPr>
              <a:t>1. Segíteni az embereknek a teljes körű önfejlesztésben</a:t>
            </a:r>
            <a:endParaRPr lang="hu-HU" dirty="0"/>
          </a:p>
          <a:p>
            <a:r>
              <a:rPr lang="hu-HU" dirty="0">
                <a:ea typeface="+mn-lt"/>
                <a:cs typeface="+mn-lt"/>
              </a:rPr>
              <a:t>2. Tudomány-alapú megközelítés alkalmazása</a:t>
            </a:r>
            <a:endParaRPr lang="hu-HU" dirty="0"/>
          </a:p>
          <a:p>
            <a:r>
              <a:rPr lang="hu-HU" dirty="0">
                <a:ea typeface="+mn-lt"/>
                <a:cs typeface="+mn-lt"/>
              </a:rPr>
              <a:t>3. Felhasználóbarát, modern interfész biztosítása</a:t>
            </a:r>
            <a:endParaRPr lang="hu-HU" dirty="0"/>
          </a:p>
          <a:p>
            <a:r>
              <a:rPr lang="hu-HU" dirty="0">
                <a:ea typeface="+mn-lt"/>
                <a:cs typeface="+mn-lt"/>
              </a:rPr>
              <a:t>4. Valós idejű AI-alapú visszajelzések</a:t>
            </a:r>
            <a:endParaRPr lang="hu-HU" dirty="0"/>
          </a:p>
          <a:p>
            <a:endParaRPr lang="hu-HU"/>
          </a:p>
          <a:p>
            <a:r>
              <a:rPr lang="hu-HU" dirty="0">
                <a:ea typeface="+mn-lt"/>
                <a:cs typeface="+mn-lt"/>
              </a:rPr>
              <a:t>**Célközönség:**</a:t>
            </a:r>
            <a:endParaRPr lang="hu-HU" dirty="0"/>
          </a:p>
          <a:p>
            <a:r>
              <a:rPr lang="hu-HU" dirty="0">
                <a:ea typeface="+mn-lt"/>
                <a:cs typeface="+mn-lt"/>
              </a:rPr>
              <a:t>- 18-35 éves fiatalok</a:t>
            </a:r>
            <a:endParaRPr lang="hu-HU" dirty="0"/>
          </a:p>
          <a:p>
            <a:r>
              <a:rPr lang="hu-HU" dirty="0">
                <a:ea typeface="+mn-lt"/>
                <a:cs typeface="+mn-lt"/>
              </a:rPr>
              <a:t>- Önfejlesztés iránt érdeklődők</a:t>
            </a:r>
            <a:endParaRPr lang="hu-HU" dirty="0"/>
          </a:p>
          <a:p>
            <a:r>
              <a:rPr lang="hu-HU" dirty="0">
                <a:ea typeface="+mn-lt"/>
                <a:cs typeface="+mn-lt"/>
              </a:rPr>
              <a:t>- Egészségtudatos emberek</a:t>
            </a:r>
            <a:endParaRPr lang="hu-HU" dirty="0"/>
          </a:p>
          <a:p>
            <a:r>
              <a:rPr lang="hu-HU" dirty="0">
                <a:ea typeface="+mn-lt"/>
                <a:cs typeface="+mn-lt"/>
              </a:rPr>
              <a:t>- Külső megjelenésük javítására törekvők</a:t>
            </a:r>
            <a:endParaRPr lang="hu-HU" dirty="0"/>
          </a:p>
          <a:p>
            <a:endParaRPr lang="hu-HU"/>
          </a:p>
          <a:p>
            <a:r>
              <a:rPr lang="hu-HU" dirty="0">
                <a:ea typeface="+mn-lt"/>
                <a:cs typeface="+mn-lt"/>
              </a:rPr>
              <a:t>**Egyedi Értékajánlat:**</a:t>
            </a:r>
            <a:endParaRPr lang="hu-HU" dirty="0"/>
          </a:p>
          <a:p>
            <a:r>
              <a:rPr lang="hu-HU" dirty="0">
                <a:ea typeface="+mn-lt"/>
                <a:cs typeface="+mn-lt"/>
              </a:rPr>
              <a:t>Komplex, háromdimenziós megközelítés (test-arc-mentál) egy platformon, AI támogatással.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4977634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9FC7B7A-385C-8F1B-34AF-6DD67389C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>
                <a:ea typeface="+mj-lt"/>
                <a:cs typeface="+mj-lt"/>
              </a:rPr>
              <a:t>Full-stack</a:t>
            </a:r>
            <a:r>
              <a:rPr lang="hu-HU" dirty="0">
                <a:ea typeface="+mj-lt"/>
                <a:cs typeface="+mj-lt"/>
              </a:rPr>
              <a:t> architektúra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B344B8E-E1A7-94D7-B7BE-AE0B319A56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hu-HU" dirty="0">
                <a:ea typeface="+mn-lt"/>
                <a:cs typeface="+mn-lt"/>
              </a:rPr>
              <a:t>**Technológiai </a:t>
            </a:r>
            <a:r>
              <a:rPr lang="hu-HU" dirty="0" err="1">
                <a:ea typeface="+mn-lt"/>
                <a:cs typeface="+mn-lt"/>
              </a:rPr>
              <a:t>Stack</a:t>
            </a:r>
            <a:r>
              <a:rPr lang="hu-HU" dirty="0">
                <a:ea typeface="+mn-lt"/>
                <a:cs typeface="+mn-lt"/>
              </a:rPr>
              <a:t>:**</a:t>
            </a:r>
          </a:p>
          <a:p>
            <a:r>
              <a:rPr lang="hu-HU" dirty="0">
                <a:ea typeface="+mn-lt"/>
                <a:cs typeface="+mn-lt"/>
              </a:rPr>
              <a:t>- **Frontend:** HTML5, CSS3, </a:t>
            </a:r>
            <a:r>
              <a:rPr lang="hu-HU" dirty="0" err="1">
                <a:ea typeface="+mn-lt"/>
                <a:cs typeface="+mn-lt"/>
              </a:rPr>
              <a:t>Vanilla</a:t>
            </a:r>
            <a:r>
              <a:rPr lang="hu-HU" dirty="0">
                <a:ea typeface="+mn-lt"/>
                <a:cs typeface="+mn-lt"/>
              </a:rPr>
              <a:t> JavaScript</a:t>
            </a:r>
          </a:p>
          <a:p>
            <a:r>
              <a:rPr lang="hu-HU" dirty="0">
                <a:ea typeface="+mn-lt"/>
                <a:cs typeface="+mn-lt"/>
              </a:rPr>
              <a:t>- **Backend:** Node.js, Express.js</a:t>
            </a:r>
          </a:p>
          <a:p>
            <a:r>
              <a:rPr lang="hu-HU" dirty="0">
                <a:ea typeface="+mn-lt"/>
                <a:cs typeface="+mn-lt"/>
              </a:rPr>
              <a:t>- **</a:t>
            </a:r>
            <a:r>
              <a:rPr lang="hu-HU" dirty="0" err="1">
                <a:ea typeface="+mn-lt"/>
                <a:cs typeface="+mn-lt"/>
              </a:rPr>
              <a:t>Database</a:t>
            </a:r>
            <a:r>
              <a:rPr lang="hu-HU" dirty="0">
                <a:ea typeface="+mn-lt"/>
                <a:cs typeface="+mn-lt"/>
              </a:rPr>
              <a:t>:** </a:t>
            </a:r>
            <a:r>
              <a:rPr lang="hu-HU" dirty="0" err="1">
                <a:ea typeface="+mn-lt"/>
                <a:cs typeface="+mn-lt"/>
              </a:rPr>
              <a:t>MySQL</a:t>
            </a:r>
          </a:p>
          <a:p>
            <a:r>
              <a:rPr lang="hu-HU" dirty="0">
                <a:ea typeface="+mn-lt"/>
                <a:cs typeface="+mn-lt"/>
              </a:rPr>
              <a:t>- **</a:t>
            </a:r>
            <a:r>
              <a:rPr lang="hu-HU" dirty="0" err="1">
                <a:ea typeface="+mn-lt"/>
                <a:cs typeface="+mn-lt"/>
              </a:rPr>
              <a:t>External</a:t>
            </a:r>
            <a:r>
              <a:rPr lang="hu-HU" dirty="0">
                <a:ea typeface="+mn-lt"/>
                <a:cs typeface="+mn-lt"/>
              </a:rPr>
              <a:t> </a:t>
            </a:r>
            <a:r>
              <a:rPr lang="hu-HU" dirty="0" err="1">
                <a:ea typeface="+mn-lt"/>
                <a:cs typeface="+mn-lt"/>
              </a:rPr>
              <a:t>APIs</a:t>
            </a:r>
            <a:r>
              <a:rPr lang="hu-HU" dirty="0">
                <a:ea typeface="+mn-lt"/>
                <a:cs typeface="+mn-lt"/>
              </a:rPr>
              <a:t>:** </a:t>
            </a:r>
            <a:r>
              <a:rPr lang="hu-HU" dirty="0" err="1">
                <a:ea typeface="+mn-lt"/>
                <a:cs typeface="+mn-lt"/>
              </a:rPr>
              <a:t>YouCam</a:t>
            </a:r>
            <a:r>
              <a:rPr lang="hu-HU" dirty="0">
                <a:ea typeface="+mn-lt"/>
                <a:cs typeface="+mn-lt"/>
              </a:rPr>
              <a:t> AI, USDA </a:t>
            </a:r>
            <a:r>
              <a:rPr lang="hu-HU" dirty="0" err="1">
                <a:ea typeface="+mn-lt"/>
                <a:cs typeface="+mn-lt"/>
              </a:rPr>
              <a:t>FoodData</a:t>
            </a:r>
            <a:r>
              <a:rPr lang="hu-HU" dirty="0">
                <a:ea typeface="+mn-lt"/>
                <a:cs typeface="+mn-lt"/>
              </a:rPr>
              <a:t> </a:t>
            </a:r>
            <a:r>
              <a:rPr lang="hu-HU" dirty="0" err="1">
                <a:ea typeface="+mn-lt"/>
                <a:cs typeface="+mn-lt"/>
              </a:rPr>
              <a:t>Central</a:t>
            </a:r>
            <a:r>
              <a:rPr lang="hu-HU" dirty="0">
                <a:ea typeface="+mn-lt"/>
                <a:cs typeface="+mn-lt"/>
              </a:rPr>
              <a:t>, </a:t>
            </a:r>
            <a:r>
              <a:rPr lang="hu-HU" dirty="0" err="1">
                <a:ea typeface="+mn-lt"/>
                <a:cs typeface="+mn-lt"/>
              </a:rPr>
              <a:t>Cloudinary</a:t>
            </a:r>
          </a:p>
          <a:p>
            <a:endParaRPr lang="hu-HU" dirty="0"/>
          </a:p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889201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8DD97F1-1817-2CFF-BDBD-D5C5BC8FC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ea typeface="+mj-lt"/>
                <a:cs typeface="+mj-lt"/>
              </a:rPr>
              <a:t>FRONTEND FELÉPÍTÉS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3224039-3C55-E307-A824-7D5D160F3E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562447"/>
            <a:ext cx="10691265" cy="5295911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hu-HU" sz="1400" dirty="0">
                <a:ea typeface="+mn-lt"/>
                <a:cs typeface="+mn-lt"/>
              </a:rPr>
              <a:t>**Oldal Hierarchia:**</a:t>
            </a:r>
            <a:endParaRPr lang="hu-HU" sz="1400" dirty="0"/>
          </a:p>
          <a:p>
            <a:endParaRPr lang="hu-HU" sz="1400" dirty="0">
              <a:ea typeface="+mn-lt"/>
              <a:cs typeface="+mn-lt"/>
            </a:endParaRPr>
          </a:p>
          <a:p>
            <a:r>
              <a:rPr lang="hu-HU" sz="1400" dirty="0">
                <a:ea typeface="+mn-lt"/>
                <a:cs typeface="+mn-lt"/>
              </a:rPr>
              <a:t>**1. Főoldal (index.html)**</a:t>
            </a:r>
            <a:endParaRPr lang="hu-HU" sz="1400" dirty="0"/>
          </a:p>
          <a:p>
            <a:r>
              <a:rPr lang="hu-HU" sz="1400" dirty="0">
                <a:ea typeface="+mn-lt"/>
                <a:cs typeface="+mn-lt"/>
              </a:rPr>
              <a:t>- </a:t>
            </a:r>
            <a:r>
              <a:rPr lang="hu-HU" sz="1400" dirty="0" err="1">
                <a:ea typeface="+mn-lt"/>
                <a:cs typeface="+mn-lt"/>
              </a:rPr>
              <a:t>Splash</a:t>
            </a:r>
            <a:r>
              <a:rPr lang="hu-HU" sz="1400" dirty="0">
                <a:ea typeface="+mn-lt"/>
                <a:cs typeface="+mn-lt"/>
              </a:rPr>
              <a:t> </a:t>
            </a:r>
            <a:r>
              <a:rPr lang="hu-HU" sz="1400" dirty="0" err="1">
                <a:ea typeface="+mn-lt"/>
                <a:cs typeface="+mn-lt"/>
              </a:rPr>
              <a:t>screen</a:t>
            </a:r>
            <a:r>
              <a:rPr lang="hu-HU" sz="1400" dirty="0">
                <a:ea typeface="+mn-lt"/>
                <a:cs typeface="+mn-lt"/>
              </a:rPr>
              <a:t> animáció ("</a:t>
            </a:r>
            <a:r>
              <a:rPr lang="hu-HU" sz="1400" dirty="0" err="1">
                <a:ea typeface="+mn-lt"/>
                <a:cs typeface="+mn-lt"/>
              </a:rPr>
              <a:t>Take</a:t>
            </a:r>
            <a:r>
              <a:rPr lang="hu-HU" sz="1400" dirty="0">
                <a:ea typeface="+mn-lt"/>
                <a:cs typeface="+mn-lt"/>
              </a:rPr>
              <a:t> </a:t>
            </a:r>
            <a:r>
              <a:rPr lang="hu-HU" sz="1400" dirty="0" err="1">
                <a:ea typeface="+mn-lt"/>
                <a:cs typeface="+mn-lt"/>
              </a:rPr>
              <a:t>the</a:t>
            </a:r>
            <a:r>
              <a:rPr lang="hu-HU" sz="1400" dirty="0">
                <a:ea typeface="+mn-lt"/>
                <a:cs typeface="+mn-lt"/>
              </a:rPr>
              <a:t> </a:t>
            </a:r>
            <a:r>
              <a:rPr lang="hu-HU" sz="1400" dirty="0" err="1">
                <a:ea typeface="+mn-lt"/>
                <a:cs typeface="+mn-lt"/>
              </a:rPr>
              <a:t>pill</a:t>
            </a:r>
            <a:r>
              <a:rPr lang="hu-HU" sz="1400" dirty="0">
                <a:ea typeface="+mn-lt"/>
                <a:cs typeface="+mn-lt"/>
              </a:rPr>
              <a:t>")</a:t>
            </a:r>
            <a:endParaRPr lang="hu-HU" sz="1400" dirty="0"/>
          </a:p>
          <a:p>
            <a:r>
              <a:rPr lang="hu-HU" sz="1400" dirty="0">
                <a:ea typeface="+mn-lt"/>
                <a:cs typeface="+mn-lt"/>
              </a:rPr>
              <a:t>- Videó háttér </a:t>
            </a:r>
            <a:r>
              <a:rPr lang="hu-HU" sz="1400" dirty="0" err="1">
                <a:ea typeface="+mn-lt"/>
                <a:cs typeface="+mn-lt"/>
              </a:rPr>
              <a:t>full-screen</a:t>
            </a:r>
            <a:endParaRPr lang="hu-HU" sz="1400" dirty="0"/>
          </a:p>
          <a:p>
            <a:r>
              <a:rPr lang="hu-HU" sz="1400" dirty="0">
                <a:ea typeface="+mn-lt"/>
                <a:cs typeface="+mn-lt"/>
              </a:rPr>
              <a:t>- </a:t>
            </a:r>
            <a:r>
              <a:rPr lang="hu-HU" sz="1400" dirty="0" err="1">
                <a:ea typeface="+mn-lt"/>
                <a:cs typeface="+mn-lt"/>
              </a:rPr>
              <a:t>Modal</a:t>
            </a:r>
            <a:r>
              <a:rPr lang="hu-HU" sz="1400" dirty="0">
                <a:ea typeface="+mn-lt"/>
                <a:cs typeface="+mn-lt"/>
              </a:rPr>
              <a:t> bejelentkezés/regisztráció</a:t>
            </a:r>
            <a:endParaRPr lang="hu-HU" sz="1400" dirty="0"/>
          </a:p>
          <a:p>
            <a:r>
              <a:rPr lang="hu-HU" sz="1400" dirty="0">
                <a:ea typeface="+mn-lt"/>
                <a:cs typeface="+mn-lt"/>
              </a:rPr>
              <a:t>- Reszponzív dizájn</a:t>
            </a:r>
          </a:p>
          <a:p>
            <a:pPr marL="0" indent="0">
              <a:buNone/>
            </a:pPr>
            <a:endParaRPr lang="hu-HU" sz="1400" dirty="0"/>
          </a:p>
          <a:p>
            <a:r>
              <a:rPr lang="hu-HU" sz="1400" dirty="0">
                <a:ea typeface="+mn-lt"/>
                <a:cs typeface="+mn-lt"/>
              </a:rPr>
              <a:t>**2. Főmenü (main.html)**</a:t>
            </a:r>
            <a:endParaRPr lang="hu-HU" sz="1400" dirty="0"/>
          </a:p>
          <a:p>
            <a:r>
              <a:rPr lang="hu-HU" sz="1400" dirty="0">
                <a:ea typeface="+mn-lt"/>
                <a:cs typeface="+mn-lt"/>
              </a:rPr>
              <a:t>- Napi feladatok </a:t>
            </a:r>
            <a:r>
              <a:rPr lang="hu-HU" sz="1400" dirty="0" err="1">
                <a:ea typeface="+mn-lt"/>
                <a:cs typeface="+mn-lt"/>
              </a:rPr>
              <a:t>checklist</a:t>
            </a:r>
            <a:endParaRPr lang="hu-HU" sz="1400" dirty="0"/>
          </a:p>
          <a:p>
            <a:r>
              <a:rPr lang="hu-HU" sz="1400" dirty="0">
                <a:ea typeface="+mn-lt"/>
                <a:cs typeface="+mn-lt"/>
              </a:rPr>
              <a:t>- Navigáció a 3 pillérhez</a:t>
            </a:r>
            <a:endParaRPr lang="hu-HU" sz="1400" dirty="0"/>
          </a:p>
          <a:p>
            <a:r>
              <a:rPr lang="hu-HU" sz="1400" dirty="0">
                <a:ea typeface="+mn-lt"/>
                <a:cs typeface="+mn-lt"/>
              </a:rPr>
              <a:t>- Felhasználói státusz megjelenítés</a:t>
            </a:r>
            <a:endParaRPr lang="hu-HU" sz="1400" dirty="0"/>
          </a:p>
          <a:p>
            <a:endParaRPr lang="hu-HU" sz="1800" dirty="0"/>
          </a:p>
        </p:txBody>
      </p:sp>
    </p:spTree>
    <p:extLst>
      <p:ext uri="{BB962C8B-B14F-4D97-AF65-F5344CB8AC3E}">
        <p14:creationId xmlns:p14="http://schemas.microsoft.com/office/powerpoint/2010/main" val="32494634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A0E0C9C-B499-D4AD-F74B-E36606C14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FRONTEND FELÉPÍTÉS</a:t>
            </a:r>
            <a:endParaRPr lang="hu-HU"/>
          </a:p>
          <a:p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3E3B1EB-C924-0A31-4FF6-6B1B1AD7B0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hu-HU" dirty="0">
                <a:ea typeface="+mn-lt"/>
                <a:cs typeface="+mn-lt"/>
              </a:rPr>
              <a:t>**3. Almenük:**</a:t>
            </a:r>
            <a:endParaRPr lang="hu-HU" dirty="0"/>
          </a:p>
          <a:p>
            <a:r>
              <a:rPr lang="hu-HU" dirty="0">
                <a:ea typeface="+mn-lt"/>
                <a:cs typeface="+mn-lt"/>
              </a:rPr>
              <a:t>- Test.html - Testösszetétel &amp; táplálkozás</a:t>
            </a:r>
            <a:endParaRPr lang="hu-HU" dirty="0"/>
          </a:p>
          <a:p>
            <a:r>
              <a:rPr lang="hu-HU" dirty="0">
                <a:ea typeface="+mn-lt"/>
                <a:cs typeface="+mn-lt"/>
              </a:rPr>
              <a:t>- Arc.html - AI bőrelemzés</a:t>
            </a:r>
            <a:endParaRPr lang="hu-HU" dirty="0"/>
          </a:p>
          <a:p>
            <a:r>
              <a:rPr lang="hu-HU" dirty="0">
                <a:ea typeface="+mn-lt"/>
                <a:cs typeface="+mn-lt"/>
              </a:rPr>
              <a:t>- Mental.html - Mentális egészség</a:t>
            </a:r>
            <a:endParaRPr lang="hu-HU" dirty="0"/>
          </a:p>
          <a:p>
            <a:endParaRPr lang="hu-HU"/>
          </a:p>
          <a:p>
            <a:r>
              <a:rPr lang="hu-HU" dirty="0">
                <a:ea typeface="+mn-lt"/>
                <a:cs typeface="+mn-lt"/>
              </a:rPr>
              <a:t>**Design Jellemzők:**</a:t>
            </a:r>
            <a:endParaRPr lang="hu-HU" dirty="0"/>
          </a:p>
          <a:p>
            <a:r>
              <a:rPr lang="hu-HU" dirty="0">
                <a:ea typeface="+mn-lt"/>
                <a:cs typeface="+mn-lt"/>
              </a:rPr>
              <a:t>- Sötét téma (</a:t>
            </a:r>
            <a:r>
              <a:rPr lang="hu-HU" dirty="0" err="1">
                <a:ea typeface="+mn-lt"/>
                <a:cs typeface="+mn-lt"/>
              </a:rPr>
              <a:t>dark</a:t>
            </a:r>
            <a:r>
              <a:rPr lang="hu-HU" dirty="0">
                <a:ea typeface="+mn-lt"/>
                <a:cs typeface="+mn-lt"/>
              </a:rPr>
              <a:t> </a:t>
            </a:r>
            <a:r>
              <a:rPr lang="hu-HU" dirty="0" err="1">
                <a:ea typeface="+mn-lt"/>
                <a:cs typeface="+mn-lt"/>
              </a:rPr>
              <a:t>mode</a:t>
            </a:r>
            <a:r>
              <a:rPr lang="hu-HU" dirty="0">
                <a:ea typeface="+mn-lt"/>
                <a:cs typeface="+mn-lt"/>
              </a:rPr>
              <a:t>)</a:t>
            </a:r>
            <a:endParaRPr lang="hu-HU" dirty="0"/>
          </a:p>
          <a:p>
            <a:r>
              <a:rPr lang="hu-HU" dirty="0">
                <a:ea typeface="+mn-lt"/>
                <a:cs typeface="+mn-lt"/>
              </a:rPr>
              <a:t>- Króm/fémes hatások</a:t>
            </a:r>
            <a:endParaRPr lang="hu-HU" dirty="0"/>
          </a:p>
          <a:p>
            <a:r>
              <a:rPr lang="hu-HU" dirty="0">
                <a:ea typeface="+mn-lt"/>
                <a:cs typeface="+mn-lt"/>
              </a:rPr>
              <a:t>- </a:t>
            </a:r>
            <a:r>
              <a:rPr lang="hu-HU" dirty="0" err="1">
                <a:ea typeface="+mn-lt"/>
                <a:cs typeface="+mn-lt"/>
              </a:rPr>
              <a:t>Cinzel</a:t>
            </a:r>
            <a:r>
              <a:rPr lang="hu-HU" dirty="0">
                <a:ea typeface="+mn-lt"/>
                <a:cs typeface="+mn-lt"/>
              </a:rPr>
              <a:t> + </a:t>
            </a:r>
            <a:r>
              <a:rPr lang="hu-HU" dirty="0" err="1">
                <a:ea typeface="+mn-lt"/>
                <a:cs typeface="+mn-lt"/>
              </a:rPr>
              <a:t>Bebas</a:t>
            </a:r>
            <a:r>
              <a:rPr lang="hu-HU" dirty="0">
                <a:ea typeface="+mn-lt"/>
                <a:cs typeface="+mn-lt"/>
              </a:rPr>
              <a:t> Neue betűtípusok</a:t>
            </a:r>
            <a:endParaRPr lang="hu-HU" dirty="0"/>
          </a:p>
          <a:p>
            <a:r>
              <a:rPr lang="hu-HU" dirty="0">
                <a:ea typeface="+mn-lt"/>
                <a:cs typeface="+mn-lt"/>
              </a:rPr>
              <a:t>- </a:t>
            </a:r>
            <a:r>
              <a:rPr lang="hu-HU" dirty="0" err="1">
                <a:ea typeface="+mn-lt"/>
                <a:cs typeface="+mn-lt"/>
              </a:rPr>
              <a:t>Smooth</a:t>
            </a:r>
            <a:r>
              <a:rPr lang="hu-HU" dirty="0">
                <a:ea typeface="+mn-lt"/>
                <a:cs typeface="+mn-lt"/>
              </a:rPr>
              <a:t> animációk</a:t>
            </a:r>
            <a:endParaRPr lang="hu-HU" dirty="0"/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1179365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F37C33B-2B2A-E2D8-716C-121177F08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ea typeface="+mj-lt"/>
                <a:cs typeface="+mj-lt"/>
              </a:rPr>
              <a:t>AUTHENTIKÁCIÓ RENDSZER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AA644ED-0802-3B2A-C498-710AF708BB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hu-HU" dirty="0">
                <a:ea typeface="+mn-lt"/>
                <a:cs typeface="+mn-lt"/>
              </a:rPr>
              <a:t>**JWT </a:t>
            </a:r>
            <a:r>
              <a:rPr lang="hu-HU" dirty="0" err="1">
                <a:ea typeface="+mn-lt"/>
                <a:cs typeface="+mn-lt"/>
              </a:rPr>
              <a:t>Token</a:t>
            </a:r>
            <a:r>
              <a:rPr lang="hu-HU" dirty="0">
                <a:ea typeface="+mn-lt"/>
                <a:cs typeface="+mn-lt"/>
              </a:rPr>
              <a:t>-alapú hitelesítés:**</a:t>
            </a:r>
            <a:endParaRPr lang="hu-HU" dirty="0"/>
          </a:p>
          <a:p>
            <a:endParaRPr lang="hu-HU"/>
          </a:p>
          <a:p>
            <a:r>
              <a:rPr lang="hu-HU" dirty="0">
                <a:ea typeface="+mn-lt"/>
                <a:cs typeface="+mn-lt"/>
              </a:rPr>
              <a:t>**Regisztráció folyamat:**</a:t>
            </a:r>
            <a:endParaRPr lang="hu-HU" dirty="0"/>
          </a:p>
          <a:p>
            <a:r>
              <a:rPr lang="hu-HU" dirty="0">
                <a:ea typeface="+mn-lt"/>
                <a:cs typeface="+mn-lt"/>
              </a:rPr>
              <a:t>1. Felhasználó kitölti az űrlapot (</a:t>
            </a:r>
            <a:r>
              <a:rPr lang="hu-HU" dirty="0" err="1">
                <a:ea typeface="+mn-lt"/>
                <a:cs typeface="+mn-lt"/>
              </a:rPr>
              <a:t>username</a:t>
            </a:r>
            <a:r>
              <a:rPr lang="hu-HU" dirty="0">
                <a:ea typeface="+mn-lt"/>
                <a:cs typeface="+mn-lt"/>
              </a:rPr>
              <a:t>, email, </a:t>
            </a:r>
            <a:r>
              <a:rPr lang="hu-HU" dirty="0" err="1">
                <a:ea typeface="+mn-lt"/>
                <a:cs typeface="+mn-lt"/>
              </a:rPr>
              <a:t>password</a:t>
            </a:r>
            <a:r>
              <a:rPr lang="hu-HU" dirty="0">
                <a:ea typeface="+mn-lt"/>
                <a:cs typeface="+mn-lt"/>
              </a:rPr>
              <a:t>)</a:t>
            </a:r>
            <a:endParaRPr lang="hu-HU" dirty="0"/>
          </a:p>
          <a:p>
            <a:r>
              <a:rPr lang="hu-HU" dirty="0">
                <a:ea typeface="+mn-lt"/>
                <a:cs typeface="+mn-lt"/>
              </a:rPr>
              <a:t>2. Backend </a:t>
            </a:r>
            <a:r>
              <a:rPr lang="hu-HU" dirty="0" err="1">
                <a:ea typeface="+mn-lt"/>
                <a:cs typeface="+mn-lt"/>
              </a:rPr>
              <a:t>bcrypt</a:t>
            </a:r>
            <a:r>
              <a:rPr lang="hu-HU" dirty="0">
                <a:ea typeface="+mn-lt"/>
                <a:cs typeface="+mn-lt"/>
              </a:rPr>
              <a:t>-tel </a:t>
            </a:r>
            <a:r>
              <a:rPr lang="hu-HU" dirty="0" err="1">
                <a:ea typeface="+mn-lt"/>
                <a:cs typeface="+mn-lt"/>
              </a:rPr>
              <a:t>hashelje</a:t>
            </a:r>
            <a:r>
              <a:rPr lang="hu-HU" dirty="0">
                <a:ea typeface="+mn-lt"/>
                <a:cs typeface="+mn-lt"/>
              </a:rPr>
              <a:t> a jelszót (10 </a:t>
            </a:r>
            <a:r>
              <a:rPr lang="hu-HU" dirty="0" err="1">
                <a:ea typeface="+mn-lt"/>
                <a:cs typeface="+mn-lt"/>
              </a:rPr>
              <a:t>salt</a:t>
            </a:r>
            <a:r>
              <a:rPr lang="hu-HU" dirty="0">
                <a:ea typeface="+mn-lt"/>
                <a:cs typeface="+mn-lt"/>
              </a:rPr>
              <a:t> </a:t>
            </a:r>
            <a:r>
              <a:rPr lang="hu-HU" dirty="0" err="1">
                <a:ea typeface="+mn-lt"/>
                <a:cs typeface="+mn-lt"/>
              </a:rPr>
              <a:t>rounds</a:t>
            </a:r>
            <a:r>
              <a:rPr lang="hu-HU" dirty="0">
                <a:ea typeface="+mn-lt"/>
                <a:cs typeface="+mn-lt"/>
              </a:rPr>
              <a:t>)</a:t>
            </a:r>
            <a:endParaRPr lang="hu-HU" dirty="0"/>
          </a:p>
          <a:p>
            <a:r>
              <a:rPr lang="hu-HU" dirty="0">
                <a:ea typeface="+mn-lt"/>
                <a:cs typeface="+mn-lt"/>
              </a:rPr>
              <a:t>3. Adatok mentése </a:t>
            </a:r>
            <a:r>
              <a:rPr lang="hu-HU" dirty="0" err="1">
                <a:ea typeface="+mn-lt"/>
                <a:cs typeface="+mn-lt"/>
              </a:rPr>
              <a:t>MySQL</a:t>
            </a:r>
            <a:r>
              <a:rPr lang="hu-HU" dirty="0">
                <a:ea typeface="+mn-lt"/>
                <a:cs typeface="+mn-lt"/>
              </a:rPr>
              <a:t>-be</a:t>
            </a:r>
            <a:endParaRPr lang="hu-HU" dirty="0"/>
          </a:p>
          <a:p>
            <a:r>
              <a:rPr lang="hu-HU" dirty="0">
                <a:ea typeface="+mn-lt"/>
                <a:cs typeface="+mn-lt"/>
              </a:rPr>
              <a:t>4. JWT </a:t>
            </a:r>
            <a:r>
              <a:rPr lang="hu-HU" dirty="0" err="1">
                <a:ea typeface="+mn-lt"/>
                <a:cs typeface="+mn-lt"/>
              </a:rPr>
              <a:t>token</a:t>
            </a:r>
            <a:r>
              <a:rPr lang="hu-HU" dirty="0">
                <a:ea typeface="+mn-lt"/>
                <a:cs typeface="+mn-lt"/>
              </a:rPr>
              <a:t> generálás</a:t>
            </a:r>
            <a:endParaRPr lang="hu-HU" dirty="0"/>
          </a:p>
          <a:p>
            <a:r>
              <a:rPr lang="hu-HU" dirty="0">
                <a:ea typeface="+mn-lt"/>
                <a:cs typeface="+mn-lt"/>
              </a:rPr>
              <a:t>5. </a:t>
            </a:r>
            <a:r>
              <a:rPr lang="hu-HU" dirty="0" err="1">
                <a:ea typeface="+mn-lt"/>
                <a:cs typeface="+mn-lt"/>
              </a:rPr>
              <a:t>Token</a:t>
            </a:r>
            <a:r>
              <a:rPr lang="hu-HU" dirty="0">
                <a:ea typeface="+mn-lt"/>
                <a:cs typeface="+mn-lt"/>
              </a:rPr>
              <a:t> visszaküldése a kliensnek</a:t>
            </a:r>
            <a:endParaRPr lang="hu-HU" dirty="0"/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9561020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6892DA4-45A7-D7BD-5C88-999F60D30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ea typeface="+mj-lt"/>
                <a:cs typeface="+mj-lt"/>
              </a:rPr>
              <a:t>AUTHENTIKÁCIÓ RENDSZER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AD80C1D-6FFB-6BB5-2C86-9A164FAD7C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70000" lnSpcReduction="20000"/>
          </a:bodyPr>
          <a:lstStyle/>
          <a:p>
            <a:r>
              <a:rPr lang="hu-HU" dirty="0">
                <a:ea typeface="+mn-lt"/>
                <a:cs typeface="+mn-lt"/>
              </a:rPr>
              <a:t>**Bejelentkezés folyamat:**</a:t>
            </a:r>
            <a:endParaRPr lang="hu-HU" dirty="0"/>
          </a:p>
          <a:p>
            <a:r>
              <a:rPr lang="hu-HU" dirty="0">
                <a:ea typeface="+mn-lt"/>
                <a:cs typeface="+mn-lt"/>
              </a:rPr>
              <a:t>1. Email &amp; jelszó beküldése</a:t>
            </a:r>
            <a:endParaRPr lang="hu-HU" dirty="0"/>
          </a:p>
          <a:p>
            <a:r>
              <a:rPr lang="hu-HU" dirty="0">
                <a:ea typeface="+mn-lt"/>
                <a:cs typeface="+mn-lt"/>
              </a:rPr>
              <a:t>2. Backend ellenőrzi az adatbázisban</a:t>
            </a:r>
            <a:endParaRPr lang="hu-HU" dirty="0"/>
          </a:p>
          <a:p>
            <a:r>
              <a:rPr lang="hu-HU" dirty="0">
                <a:ea typeface="+mn-lt"/>
                <a:cs typeface="+mn-lt"/>
              </a:rPr>
              <a:t>3. </a:t>
            </a:r>
            <a:r>
              <a:rPr lang="hu-HU" dirty="0" err="1">
                <a:ea typeface="+mn-lt"/>
                <a:cs typeface="+mn-lt"/>
              </a:rPr>
              <a:t>Bcrypt</a:t>
            </a:r>
            <a:r>
              <a:rPr lang="hu-HU" dirty="0">
                <a:ea typeface="+mn-lt"/>
                <a:cs typeface="+mn-lt"/>
              </a:rPr>
              <a:t> összehasonlítja a </a:t>
            </a:r>
            <a:r>
              <a:rPr lang="hu-HU" dirty="0" err="1">
                <a:ea typeface="+mn-lt"/>
                <a:cs typeface="+mn-lt"/>
              </a:rPr>
              <a:t>hash-eket</a:t>
            </a:r>
            <a:endParaRPr lang="hu-HU" dirty="0" err="1"/>
          </a:p>
          <a:p>
            <a:r>
              <a:rPr lang="hu-HU" dirty="0">
                <a:ea typeface="+mn-lt"/>
                <a:cs typeface="+mn-lt"/>
              </a:rPr>
              <a:t>4. Sikeres login → JWT </a:t>
            </a:r>
            <a:r>
              <a:rPr lang="hu-HU" dirty="0" err="1">
                <a:ea typeface="+mn-lt"/>
                <a:cs typeface="+mn-lt"/>
              </a:rPr>
              <a:t>token</a:t>
            </a:r>
            <a:r>
              <a:rPr lang="hu-HU" dirty="0">
                <a:ea typeface="+mn-lt"/>
                <a:cs typeface="+mn-lt"/>
              </a:rPr>
              <a:t> generálás</a:t>
            </a:r>
            <a:endParaRPr lang="hu-HU" dirty="0"/>
          </a:p>
          <a:p>
            <a:r>
              <a:rPr lang="hu-HU" dirty="0">
                <a:ea typeface="+mn-lt"/>
                <a:cs typeface="+mn-lt"/>
              </a:rPr>
              <a:t>5. </a:t>
            </a:r>
            <a:r>
              <a:rPr lang="hu-HU" dirty="0" err="1">
                <a:ea typeface="+mn-lt"/>
                <a:cs typeface="+mn-lt"/>
              </a:rPr>
              <a:t>Token</a:t>
            </a:r>
            <a:r>
              <a:rPr lang="hu-HU" dirty="0">
                <a:ea typeface="+mn-lt"/>
                <a:cs typeface="+mn-lt"/>
              </a:rPr>
              <a:t> tárolása </a:t>
            </a:r>
            <a:r>
              <a:rPr lang="hu-HU" dirty="0" err="1">
                <a:ea typeface="+mn-lt"/>
                <a:cs typeface="+mn-lt"/>
              </a:rPr>
              <a:t>localStorage</a:t>
            </a:r>
            <a:r>
              <a:rPr lang="hu-HU" dirty="0">
                <a:ea typeface="+mn-lt"/>
                <a:cs typeface="+mn-lt"/>
              </a:rPr>
              <a:t>-ban</a:t>
            </a:r>
            <a:endParaRPr lang="hu-HU" dirty="0"/>
          </a:p>
          <a:p>
            <a:endParaRPr lang="hu-HU"/>
          </a:p>
          <a:p>
            <a:r>
              <a:rPr lang="hu-HU" dirty="0">
                <a:ea typeface="+mn-lt"/>
                <a:cs typeface="+mn-lt"/>
              </a:rPr>
              <a:t>**Biztonság:**</a:t>
            </a:r>
            <a:endParaRPr lang="hu-HU" dirty="0"/>
          </a:p>
          <a:p>
            <a:r>
              <a:rPr lang="hu-HU" dirty="0">
                <a:ea typeface="+mn-lt"/>
                <a:cs typeface="+mn-lt"/>
              </a:rPr>
              <a:t>- Jelszavak </a:t>
            </a:r>
            <a:r>
              <a:rPr lang="hu-HU" dirty="0" err="1">
                <a:ea typeface="+mn-lt"/>
                <a:cs typeface="+mn-lt"/>
              </a:rPr>
              <a:t>bcrypt</a:t>
            </a:r>
            <a:r>
              <a:rPr lang="hu-HU" dirty="0">
                <a:ea typeface="+mn-lt"/>
                <a:cs typeface="+mn-lt"/>
              </a:rPr>
              <a:t> </a:t>
            </a:r>
            <a:r>
              <a:rPr lang="hu-HU" dirty="0" err="1">
                <a:ea typeface="+mn-lt"/>
                <a:cs typeface="+mn-lt"/>
              </a:rPr>
              <a:t>hash</a:t>
            </a:r>
            <a:r>
              <a:rPr lang="hu-HU" dirty="0">
                <a:ea typeface="+mn-lt"/>
                <a:cs typeface="+mn-lt"/>
              </a:rPr>
              <a:t>-elve (soha nem </a:t>
            </a:r>
            <a:r>
              <a:rPr lang="hu-HU" dirty="0" err="1">
                <a:ea typeface="+mn-lt"/>
                <a:cs typeface="+mn-lt"/>
              </a:rPr>
              <a:t>plain</a:t>
            </a:r>
            <a:r>
              <a:rPr lang="hu-HU" dirty="0">
                <a:ea typeface="+mn-lt"/>
                <a:cs typeface="+mn-lt"/>
              </a:rPr>
              <a:t> text)</a:t>
            </a:r>
            <a:endParaRPr lang="hu-HU" dirty="0"/>
          </a:p>
          <a:p>
            <a:r>
              <a:rPr lang="hu-HU" dirty="0">
                <a:ea typeface="+mn-lt"/>
                <a:cs typeface="+mn-lt"/>
              </a:rPr>
              <a:t>- JWT </a:t>
            </a:r>
            <a:r>
              <a:rPr lang="hu-HU" dirty="0" err="1">
                <a:ea typeface="+mn-lt"/>
                <a:cs typeface="+mn-lt"/>
              </a:rPr>
              <a:t>token</a:t>
            </a:r>
            <a:r>
              <a:rPr lang="hu-HU" dirty="0">
                <a:ea typeface="+mn-lt"/>
                <a:cs typeface="+mn-lt"/>
              </a:rPr>
              <a:t> lejárat: 24 óra</a:t>
            </a:r>
            <a:endParaRPr lang="hu-HU" dirty="0"/>
          </a:p>
          <a:p>
            <a:r>
              <a:rPr lang="hu-HU" dirty="0">
                <a:ea typeface="+mn-lt"/>
                <a:cs typeface="+mn-lt"/>
              </a:rPr>
              <a:t>- HTTP-</a:t>
            </a:r>
            <a:r>
              <a:rPr lang="hu-HU" dirty="0" err="1">
                <a:ea typeface="+mn-lt"/>
                <a:cs typeface="+mn-lt"/>
              </a:rPr>
              <a:t>only</a:t>
            </a:r>
            <a:r>
              <a:rPr lang="hu-HU" dirty="0">
                <a:ea typeface="+mn-lt"/>
                <a:cs typeface="+mn-lt"/>
              </a:rPr>
              <a:t> sessionök (opcionális)</a:t>
            </a:r>
            <a:endParaRPr lang="hu-HU" dirty="0"/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41703278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7FA1B31-B1C9-6F36-B57E-274DA6AE4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ea typeface="+mj-lt"/>
                <a:cs typeface="+mj-lt"/>
              </a:rPr>
              <a:t>USDA ÉTEL ADATBÁZIS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4DC65EC-ABAA-1AD1-6F77-4BD60F6353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70000" lnSpcReduction="20000"/>
          </a:bodyPr>
          <a:lstStyle/>
          <a:p>
            <a:r>
              <a:rPr lang="hu-HU" dirty="0">
                <a:ea typeface="+mn-lt"/>
                <a:cs typeface="+mn-lt"/>
              </a:rPr>
              <a:t>**Kalóriaszámítás &amp; Tápanyagok:**</a:t>
            </a:r>
            <a:endParaRPr lang="hu-HU" dirty="0"/>
          </a:p>
          <a:p>
            <a:endParaRPr lang="hu-HU"/>
          </a:p>
          <a:p>
            <a:r>
              <a:rPr lang="hu-HU" dirty="0">
                <a:ea typeface="+mn-lt"/>
                <a:cs typeface="+mn-lt"/>
              </a:rPr>
              <a:t>**USDA </a:t>
            </a:r>
            <a:r>
              <a:rPr lang="hu-HU" dirty="0" err="1">
                <a:ea typeface="+mn-lt"/>
                <a:cs typeface="+mn-lt"/>
              </a:rPr>
              <a:t>FoodData</a:t>
            </a:r>
            <a:r>
              <a:rPr lang="hu-HU" dirty="0">
                <a:ea typeface="+mn-lt"/>
                <a:cs typeface="+mn-lt"/>
              </a:rPr>
              <a:t> </a:t>
            </a:r>
            <a:r>
              <a:rPr lang="hu-HU" dirty="0" err="1">
                <a:ea typeface="+mn-lt"/>
                <a:cs typeface="+mn-lt"/>
              </a:rPr>
              <a:t>Central</a:t>
            </a:r>
            <a:r>
              <a:rPr lang="hu-HU" dirty="0">
                <a:ea typeface="+mn-lt"/>
                <a:cs typeface="+mn-lt"/>
              </a:rPr>
              <a:t> API:**</a:t>
            </a:r>
            <a:endParaRPr lang="hu-HU" dirty="0"/>
          </a:p>
          <a:p>
            <a:r>
              <a:rPr lang="hu-HU" dirty="0">
                <a:ea typeface="+mn-lt"/>
                <a:cs typeface="+mn-lt"/>
              </a:rPr>
              <a:t>- 350,000+ élelmiszer a rendszerben</a:t>
            </a:r>
            <a:endParaRPr lang="hu-HU" dirty="0"/>
          </a:p>
          <a:p>
            <a:r>
              <a:rPr lang="hu-HU" dirty="0">
                <a:ea typeface="+mn-lt"/>
                <a:cs typeface="+mn-lt"/>
              </a:rPr>
              <a:t>- Hivatalos amerikai agrárminisztériumi adatok</a:t>
            </a:r>
            <a:endParaRPr lang="hu-HU" dirty="0"/>
          </a:p>
          <a:p>
            <a:r>
              <a:rPr lang="hu-HU" dirty="0">
                <a:ea typeface="+mn-lt"/>
                <a:cs typeface="+mn-lt"/>
              </a:rPr>
              <a:t>- Részletes tápanyag-összetétel</a:t>
            </a:r>
            <a:endParaRPr lang="hu-HU" dirty="0"/>
          </a:p>
          <a:p>
            <a:endParaRPr lang="hu-HU"/>
          </a:p>
          <a:p>
            <a:r>
              <a:rPr lang="hu-HU" dirty="0">
                <a:ea typeface="+mn-lt"/>
                <a:cs typeface="+mn-lt"/>
              </a:rPr>
              <a:t>**Funkciók:**</a:t>
            </a:r>
            <a:endParaRPr lang="hu-HU" dirty="0"/>
          </a:p>
          <a:p>
            <a:r>
              <a:rPr lang="hu-HU" dirty="0">
                <a:ea typeface="+mn-lt"/>
                <a:cs typeface="+mn-lt"/>
              </a:rPr>
              <a:t>1. **Étel keresés** - Név alapján keresés</a:t>
            </a:r>
            <a:endParaRPr lang="hu-HU" dirty="0"/>
          </a:p>
          <a:p>
            <a:r>
              <a:rPr lang="hu-HU" dirty="0">
                <a:ea typeface="+mn-lt"/>
                <a:cs typeface="+mn-lt"/>
              </a:rPr>
              <a:t>2. **Kalória lekérdezés** - Pontos energia tartalom</a:t>
            </a:r>
            <a:endParaRPr lang="hu-HU" dirty="0"/>
          </a:p>
          <a:p>
            <a:r>
              <a:rPr lang="hu-HU" dirty="0">
                <a:ea typeface="+mn-lt"/>
                <a:cs typeface="+mn-lt"/>
              </a:rPr>
              <a:t>3. **Makrók** - Fehérje, szénhidrát, zsír</a:t>
            </a:r>
            <a:endParaRPr lang="hu-HU" dirty="0"/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1987520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0154D53-691C-E367-8548-FD173F042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ea typeface="+mj-lt"/>
                <a:cs typeface="+mj-lt"/>
              </a:rPr>
              <a:t>USDA ÉTEL ADATBÁZIS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2468A53-128C-ED4A-1F62-C5812B9244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55000" lnSpcReduction="20000"/>
          </a:bodyPr>
          <a:lstStyle/>
          <a:p>
            <a:r>
              <a:rPr lang="hu-HU" dirty="0">
                <a:ea typeface="+mn-lt"/>
                <a:cs typeface="+mn-lt"/>
              </a:rPr>
              <a:t>**Használat:**</a:t>
            </a:r>
            <a:endParaRPr lang="hu-HU" dirty="0"/>
          </a:p>
          <a:p>
            <a:r>
              <a:rPr lang="hu-HU" dirty="0">
                <a:ea typeface="+mn-lt"/>
                <a:cs typeface="+mn-lt"/>
              </a:rPr>
              <a:t>```</a:t>
            </a:r>
            <a:r>
              <a:rPr lang="hu-HU" dirty="0" err="1">
                <a:ea typeface="+mn-lt"/>
                <a:cs typeface="+mn-lt"/>
              </a:rPr>
              <a:t>javascript</a:t>
            </a:r>
            <a:endParaRPr lang="hu-HU" dirty="0" err="1"/>
          </a:p>
          <a:p>
            <a:r>
              <a:rPr lang="hu-HU" dirty="0">
                <a:ea typeface="+mn-lt"/>
                <a:cs typeface="+mn-lt"/>
              </a:rPr>
              <a:t>GET /</a:t>
            </a:r>
            <a:r>
              <a:rPr lang="hu-HU" dirty="0" err="1">
                <a:ea typeface="+mn-lt"/>
                <a:cs typeface="+mn-lt"/>
              </a:rPr>
              <a:t>nutrition</a:t>
            </a:r>
            <a:r>
              <a:rPr lang="hu-HU" dirty="0">
                <a:ea typeface="+mn-lt"/>
                <a:cs typeface="+mn-lt"/>
              </a:rPr>
              <a:t>/</a:t>
            </a:r>
            <a:r>
              <a:rPr lang="hu-HU" dirty="0" err="1">
                <a:ea typeface="+mn-lt"/>
                <a:cs typeface="+mn-lt"/>
              </a:rPr>
              <a:t>search?query</a:t>
            </a:r>
            <a:r>
              <a:rPr lang="hu-HU" dirty="0">
                <a:ea typeface="+mn-lt"/>
                <a:cs typeface="+mn-lt"/>
              </a:rPr>
              <a:t>=</a:t>
            </a:r>
            <a:r>
              <a:rPr lang="hu-HU" dirty="0" err="1">
                <a:ea typeface="+mn-lt"/>
                <a:cs typeface="+mn-lt"/>
              </a:rPr>
              <a:t>apple</a:t>
            </a:r>
            <a:endParaRPr lang="hu-HU" dirty="0" err="1"/>
          </a:p>
          <a:p>
            <a:r>
              <a:rPr lang="hu-HU" dirty="0">
                <a:ea typeface="+mn-lt"/>
                <a:cs typeface="+mn-lt"/>
              </a:rPr>
              <a:t>→ Visszaadja az összes alma típust</a:t>
            </a:r>
            <a:endParaRPr lang="hu-HU" dirty="0"/>
          </a:p>
          <a:p>
            <a:endParaRPr lang="hu-HU"/>
          </a:p>
          <a:p>
            <a:r>
              <a:rPr lang="hu-HU" dirty="0">
                <a:ea typeface="+mn-lt"/>
                <a:cs typeface="+mn-lt"/>
              </a:rPr>
              <a:t>POST /</a:t>
            </a:r>
            <a:r>
              <a:rPr lang="hu-HU" dirty="0" err="1">
                <a:ea typeface="+mn-lt"/>
                <a:cs typeface="+mn-lt"/>
              </a:rPr>
              <a:t>api</a:t>
            </a:r>
            <a:r>
              <a:rPr lang="hu-HU" dirty="0">
                <a:ea typeface="+mn-lt"/>
                <a:cs typeface="+mn-lt"/>
              </a:rPr>
              <a:t>/</a:t>
            </a:r>
            <a:r>
              <a:rPr lang="hu-HU" dirty="0" err="1">
                <a:ea typeface="+mn-lt"/>
                <a:cs typeface="+mn-lt"/>
              </a:rPr>
              <a:t>food-analyze</a:t>
            </a:r>
            <a:endParaRPr lang="hu-HU" dirty="0" err="1"/>
          </a:p>
          <a:p>
            <a:r>
              <a:rPr lang="hu-HU" dirty="0">
                <a:ea typeface="+mn-lt"/>
                <a:cs typeface="+mn-lt"/>
              </a:rPr>
              <a:t>→ Részletes tápanyag elemzés</a:t>
            </a:r>
            <a:endParaRPr lang="hu-HU" dirty="0"/>
          </a:p>
          <a:p>
            <a:r>
              <a:rPr lang="hu-HU" dirty="0">
                <a:ea typeface="+mn-lt"/>
                <a:cs typeface="+mn-lt"/>
              </a:rPr>
              <a:t>```</a:t>
            </a:r>
            <a:endParaRPr lang="hu-HU" dirty="0"/>
          </a:p>
          <a:p>
            <a:endParaRPr lang="hu-HU"/>
          </a:p>
          <a:p>
            <a:r>
              <a:rPr lang="hu-HU" dirty="0">
                <a:ea typeface="+mn-lt"/>
                <a:cs typeface="+mn-lt"/>
              </a:rPr>
              <a:t>**Felhasználási Terület:**</a:t>
            </a:r>
            <a:endParaRPr lang="hu-HU" dirty="0"/>
          </a:p>
          <a:p>
            <a:r>
              <a:rPr lang="hu-HU" dirty="0">
                <a:ea typeface="+mn-lt"/>
                <a:cs typeface="+mn-lt"/>
              </a:rPr>
              <a:t>- Napi kalóriabevitel követése</a:t>
            </a:r>
            <a:endParaRPr lang="hu-HU" dirty="0"/>
          </a:p>
          <a:p>
            <a:r>
              <a:rPr lang="hu-HU" dirty="0">
                <a:ea typeface="+mn-lt"/>
                <a:cs typeface="+mn-lt"/>
              </a:rPr>
              <a:t>- Diétás célok támogatása</a:t>
            </a:r>
            <a:endParaRPr lang="hu-HU" dirty="0"/>
          </a:p>
          <a:p>
            <a:r>
              <a:rPr lang="hu-HU" dirty="0">
                <a:ea typeface="+mn-lt"/>
                <a:cs typeface="+mn-lt"/>
              </a:rPr>
              <a:t>- Makrótápanyag optimalizálás</a:t>
            </a:r>
            <a:endParaRPr lang="hu-HU" dirty="0"/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42654282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BFBDC90-2905-49B2-CC95-3242BC409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ea typeface="+mj-lt"/>
                <a:cs typeface="+mj-lt"/>
              </a:rPr>
              <a:t>TEST MODUL RÉSZLETESEN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7BEE116-E893-B296-7A44-7284DC9039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70000" lnSpcReduction="20000"/>
          </a:bodyPr>
          <a:lstStyle/>
          <a:p>
            <a:r>
              <a:rPr lang="hu-HU" dirty="0">
                <a:ea typeface="+mn-lt"/>
                <a:cs typeface="+mn-lt"/>
              </a:rPr>
              <a:t>**Funkciók:**</a:t>
            </a:r>
            <a:endParaRPr lang="hu-HU" dirty="0"/>
          </a:p>
          <a:p>
            <a:endParaRPr lang="hu-HU"/>
          </a:p>
          <a:p>
            <a:r>
              <a:rPr lang="hu-HU" dirty="0">
                <a:ea typeface="+mn-lt"/>
                <a:cs typeface="+mn-lt"/>
              </a:rPr>
              <a:t>**1. BMI Számítás (Body </a:t>
            </a:r>
            <a:r>
              <a:rPr lang="hu-HU" dirty="0" err="1">
                <a:ea typeface="+mn-lt"/>
                <a:cs typeface="+mn-lt"/>
              </a:rPr>
              <a:t>Mass</a:t>
            </a:r>
            <a:r>
              <a:rPr lang="hu-HU" dirty="0">
                <a:ea typeface="+mn-lt"/>
                <a:cs typeface="+mn-lt"/>
              </a:rPr>
              <a:t> Index)**</a:t>
            </a:r>
            <a:endParaRPr lang="hu-HU" dirty="0"/>
          </a:p>
          <a:p>
            <a:r>
              <a:rPr lang="hu-HU" dirty="0">
                <a:ea typeface="+mn-lt"/>
                <a:cs typeface="+mn-lt"/>
              </a:rPr>
              <a:t>- Formula: tömeg (kg) / magasság² (m)</a:t>
            </a:r>
            <a:endParaRPr lang="hu-HU" dirty="0"/>
          </a:p>
          <a:p>
            <a:r>
              <a:rPr lang="hu-HU" dirty="0">
                <a:ea typeface="+mn-lt"/>
                <a:cs typeface="+mn-lt"/>
              </a:rPr>
              <a:t>- Kategóriák: Sovány, Normál, Túlsúly, Elhízás</a:t>
            </a:r>
            <a:endParaRPr lang="hu-HU" dirty="0"/>
          </a:p>
          <a:p>
            <a:r>
              <a:rPr lang="hu-HU" dirty="0">
                <a:ea typeface="+mn-lt"/>
                <a:cs typeface="+mn-lt"/>
              </a:rPr>
              <a:t>- Vizuális visszajelzés színkóddal</a:t>
            </a:r>
            <a:endParaRPr lang="hu-HU" dirty="0"/>
          </a:p>
          <a:p>
            <a:endParaRPr lang="hu-HU"/>
          </a:p>
          <a:p>
            <a:r>
              <a:rPr lang="hu-HU" dirty="0">
                <a:ea typeface="+mn-lt"/>
                <a:cs typeface="+mn-lt"/>
              </a:rPr>
              <a:t>**2. BMR Számítás (Basal </a:t>
            </a:r>
            <a:r>
              <a:rPr lang="hu-HU" dirty="0" err="1">
                <a:ea typeface="+mn-lt"/>
                <a:cs typeface="+mn-lt"/>
              </a:rPr>
              <a:t>Metabolic</a:t>
            </a:r>
            <a:r>
              <a:rPr lang="hu-HU" dirty="0">
                <a:ea typeface="+mn-lt"/>
                <a:cs typeface="+mn-lt"/>
              </a:rPr>
              <a:t> </a:t>
            </a:r>
            <a:r>
              <a:rPr lang="hu-HU" dirty="0" err="1">
                <a:ea typeface="+mn-lt"/>
                <a:cs typeface="+mn-lt"/>
              </a:rPr>
              <a:t>Rate</a:t>
            </a:r>
            <a:r>
              <a:rPr lang="hu-HU" dirty="0">
                <a:ea typeface="+mn-lt"/>
                <a:cs typeface="+mn-lt"/>
              </a:rPr>
              <a:t>)**</a:t>
            </a:r>
            <a:endParaRPr lang="hu-HU" dirty="0"/>
          </a:p>
          <a:p>
            <a:r>
              <a:rPr lang="hu-HU" dirty="0">
                <a:ea typeface="+mn-lt"/>
                <a:cs typeface="+mn-lt"/>
              </a:rPr>
              <a:t>- </a:t>
            </a:r>
            <a:r>
              <a:rPr lang="hu-HU" dirty="0" err="1">
                <a:ea typeface="+mn-lt"/>
                <a:cs typeface="+mn-lt"/>
              </a:rPr>
              <a:t>Mifflin-St</a:t>
            </a:r>
            <a:r>
              <a:rPr lang="hu-HU" dirty="0">
                <a:ea typeface="+mn-lt"/>
                <a:cs typeface="+mn-lt"/>
              </a:rPr>
              <a:t> </a:t>
            </a:r>
            <a:r>
              <a:rPr lang="hu-HU" dirty="0" err="1">
                <a:ea typeface="+mn-lt"/>
                <a:cs typeface="+mn-lt"/>
              </a:rPr>
              <a:t>Jeor</a:t>
            </a:r>
            <a:r>
              <a:rPr lang="hu-HU" dirty="0">
                <a:ea typeface="+mn-lt"/>
                <a:cs typeface="+mn-lt"/>
              </a:rPr>
              <a:t> egyenlet</a:t>
            </a:r>
            <a:endParaRPr lang="hu-HU"/>
          </a:p>
          <a:p>
            <a:r>
              <a:rPr lang="hu-HU" dirty="0">
                <a:ea typeface="+mn-lt"/>
                <a:cs typeface="+mn-lt"/>
              </a:rPr>
              <a:t>- Nemi különbségek figyelembevétele</a:t>
            </a:r>
            <a:endParaRPr lang="hu-HU" dirty="0"/>
          </a:p>
          <a:p>
            <a:r>
              <a:rPr lang="hu-HU" dirty="0">
                <a:ea typeface="+mn-lt"/>
                <a:cs typeface="+mn-lt"/>
              </a:rPr>
              <a:t>- Alapanyagcsere kalória szükséglet</a:t>
            </a:r>
            <a:endParaRPr lang="hu-HU" dirty="0"/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3910021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BE48DF1-49EA-4F36-F373-3128353DC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>
                <a:ea typeface="+mj-lt"/>
                <a:cs typeface="+mj-lt"/>
              </a:rPr>
              <a:t>tEST</a:t>
            </a:r>
            <a:r>
              <a:rPr lang="hu-HU" dirty="0">
                <a:ea typeface="+mj-lt"/>
                <a:cs typeface="+mj-lt"/>
              </a:rPr>
              <a:t> MODUL RÉSZLETESEN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95F5638-73D1-B537-BA88-EE249FE5CC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hu-HU" dirty="0">
                <a:ea typeface="+mn-lt"/>
                <a:cs typeface="+mn-lt"/>
              </a:rPr>
              <a:t>**3. TDEE (Total Daily </a:t>
            </a:r>
            <a:r>
              <a:rPr lang="hu-HU" dirty="0" err="1">
                <a:ea typeface="+mn-lt"/>
                <a:cs typeface="+mn-lt"/>
              </a:rPr>
              <a:t>Energy</a:t>
            </a:r>
            <a:r>
              <a:rPr lang="hu-HU" dirty="0">
                <a:ea typeface="+mn-lt"/>
                <a:cs typeface="+mn-lt"/>
              </a:rPr>
              <a:t> </a:t>
            </a:r>
            <a:r>
              <a:rPr lang="hu-HU" dirty="0" err="1">
                <a:ea typeface="+mn-lt"/>
                <a:cs typeface="+mn-lt"/>
              </a:rPr>
              <a:t>Expenditure</a:t>
            </a:r>
            <a:r>
              <a:rPr lang="hu-HU" dirty="0">
                <a:ea typeface="+mn-lt"/>
                <a:cs typeface="+mn-lt"/>
              </a:rPr>
              <a:t>)**</a:t>
            </a:r>
            <a:endParaRPr lang="hu-HU" dirty="0"/>
          </a:p>
          <a:p>
            <a:r>
              <a:rPr lang="hu-HU" dirty="0">
                <a:ea typeface="+mn-lt"/>
                <a:cs typeface="+mn-lt"/>
              </a:rPr>
              <a:t>- Aktivitási szintek: Ülő, Enyhén aktív, Közepesen aktív, Nagyon aktív, Rendkívül aktív</a:t>
            </a:r>
            <a:endParaRPr lang="hu-HU" dirty="0"/>
          </a:p>
          <a:p>
            <a:r>
              <a:rPr lang="hu-HU" dirty="0">
                <a:ea typeface="+mn-lt"/>
                <a:cs typeface="+mn-lt"/>
              </a:rPr>
              <a:t>- Kalória szükséglet célok szerint (fogyás, tartás, hízás)</a:t>
            </a:r>
            <a:endParaRPr lang="hu-HU" dirty="0"/>
          </a:p>
          <a:p>
            <a:endParaRPr lang="hu-HU"/>
          </a:p>
          <a:p>
            <a:r>
              <a:rPr lang="hu-HU" dirty="0">
                <a:ea typeface="+mn-lt"/>
                <a:cs typeface="+mn-lt"/>
              </a:rPr>
              <a:t>**4. Alkohol Követő**</a:t>
            </a:r>
            <a:endParaRPr lang="hu-HU" dirty="0"/>
          </a:p>
          <a:p>
            <a:r>
              <a:rPr lang="hu-HU" dirty="0">
                <a:ea typeface="+mn-lt"/>
                <a:cs typeface="+mn-lt"/>
              </a:rPr>
              <a:t>- Italok adatbázisa (ital nevével, alkohol%, ml)</a:t>
            </a:r>
            <a:endParaRPr lang="hu-HU" dirty="0"/>
          </a:p>
          <a:p>
            <a:r>
              <a:rPr lang="hu-HU" dirty="0">
                <a:ea typeface="+mn-lt"/>
                <a:cs typeface="+mn-lt"/>
              </a:rPr>
              <a:t>- Kalória számítás alkoholból: (ml × alkohol% × 0.789 × 7)</a:t>
            </a:r>
            <a:endParaRPr lang="hu-HU" dirty="0"/>
          </a:p>
          <a:p>
            <a:r>
              <a:rPr lang="hu-HU" dirty="0">
                <a:ea typeface="+mn-lt"/>
                <a:cs typeface="+mn-lt"/>
              </a:rPr>
              <a:t>- Napi/heti/havi statisztikák</a:t>
            </a:r>
            <a:endParaRPr lang="hu-HU" dirty="0"/>
          </a:p>
          <a:p>
            <a:r>
              <a:rPr lang="hu-HU" dirty="0">
                <a:ea typeface="+mn-lt"/>
                <a:cs typeface="+mn-lt"/>
              </a:rPr>
              <a:t>- Egészségügyi figyelmeztetések</a:t>
            </a:r>
            <a:endParaRPr lang="hu-HU" dirty="0"/>
          </a:p>
          <a:p>
            <a:endParaRPr lang="hu-HU"/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9618687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E3CF155-1F1A-8349-DD1F-038969786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>
                <a:ea typeface="+mj-lt"/>
                <a:cs typeface="+mj-lt"/>
              </a:rPr>
              <a:t>MENTÁL MODUL RÉSZLETESEN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92ACF40-521F-3C68-FA32-6D6E63C2C0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55000" lnSpcReduction="20000"/>
          </a:bodyPr>
          <a:lstStyle/>
          <a:p>
            <a:r>
              <a:rPr lang="hu-HU" dirty="0">
                <a:ea typeface="+mn-lt"/>
                <a:cs typeface="+mn-lt"/>
              </a:rPr>
              <a:t>**Mentális Egészség Támogatása:**</a:t>
            </a:r>
            <a:endParaRPr lang="hu-HU" dirty="0"/>
          </a:p>
          <a:p>
            <a:endParaRPr lang="hu-HU"/>
          </a:p>
          <a:p>
            <a:r>
              <a:rPr lang="hu-HU" dirty="0">
                <a:ea typeface="+mn-lt"/>
                <a:cs typeface="+mn-lt"/>
              </a:rPr>
              <a:t>**Jelenleg Implementált:**</a:t>
            </a:r>
            <a:endParaRPr lang="hu-HU" dirty="0"/>
          </a:p>
          <a:p>
            <a:r>
              <a:rPr lang="hu-HU" dirty="0">
                <a:ea typeface="+mn-lt"/>
                <a:cs typeface="+mn-lt"/>
              </a:rPr>
              <a:t>- Információs tartalom a stresszkezelésről</a:t>
            </a:r>
            <a:endParaRPr lang="hu-HU" dirty="0"/>
          </a:p>
          <a:p>
            <a:r>
              <a:rPr lang="hu-HU" dirty="0">
                <a:ea typeface="+mn-lt"/>
                <a:cs typeface="+mn-lt"/>
              </a:rPr>
              <a:t>- Kognitív funkciók fejlesztési tippek</a:t>
            </a:r>
            <a:endParaRPr lang="hu-HU" dirty="0"/>
          </a:p>
          <a:p>
            <a:r>
              <a:rPr lang="hu-HU" dirty="0">
                <a:ea typeface="+mn-lt"/>
                <a:cs typeface="+mn-lt"/>
              </a:rPr>
              <a:t>- </a:t>
            </a:r>
            <a:r>
              <a:rPr lang="hu-HU" dirty="0" err="1">
                <a:ea typeface="+mn-lt"/>
                <a:cs typeface="+mn-lt"/>
              </a:rPr>
              <a:t>Mindfulness</a:t>
            </a:r>
            <a:r>
              <a:rPr lang="hu-HU" dirty="0">
                <a:ea typeface="+mn-lt"/>
                <a:cs typeface="+mn-lt"/>
              </a:rPr>
              <a:t> technikák</a:t>
            </a:r>
            <a:endParaRPr lang="hu-HU" dirty="0"/>
          </a:p>
          <a:p>
            <a:endParaRPr lang="hu-HU"/>
          </a:p>
          <a:p>
            <a:r>
              <a:rPr lang="hu-HU" dirty="0">
                <a:ea typeface="+mn-lt"/>
                <a:cs typeface="+mn-lt"/>
              </a:rPr>
              <a:t>**Tervezett Fejlesztések:**</a:t>
            </a:r>
            <a:endParaRPr lang="hu-HU" dirty="0"/>
          </a:p>
          <a:p>
            <a:r>
              <a:rPr lang="hu-HU" dirty="0">
                <a:ea typeface="+mn-lt"/>
                <a:cs typeface="+mn-lt"/>
              </a:rPr>
              <a:t>1. **Hangulat Napló** - Napi érzelmi állapot rögzítése</a:t>
            </a:r>
            <a:endParaRPr lang="hu-HU" dirty="0"/>
          </a:p>
          <a:p>
            <a:r>
              <a:rPr lang="hu-HU" dirty="0">
                <a:ea typeface="+mn-lt"/>
                <a:cs typeface="+mn-lt"/>
              </a:rPr>
              <a:t>2. **Meditáció </a:t>
            </a:r>
            <a:r>
              <a:rPr lang="hu-HU" dirty="0" err="1">
                <a:ea typeface="+mn-lt"/>
                <a:cs typeface="+mn-lt"/>
              </a:rPr>
              <a:t>Timer</a:t>
            </a:r>
            <a:r>
              <a:rPr lang="hu-HU" dirty="0">
                <a:ea typeface="+mn-lt"/>
                <a:cs typeface="+mn-lt"/>
              </a:rPr>
              <a:t>** - </a:t>
            </a:r>
            <a:r>
              <a:rPr lang="hu-HU" dirty="0" err="1">
                <a:ea typeface="+mn-lt"/>
                <a:cs typeface="+mn-lt"/>
              </a:rPr>
              <a:t>Geosócs</a:t>
            </a:r>
            <a:r>
              <a:rPr lang="hu-HU" dirty="0">
                <a:ea typeface="+mn-lt"/>
                <a:cs typeface="+mn-lt"/>
              </a:rPr>
              <a:t> meditációs gyakorlatok</a:t>
            </a:r>
            <a:endParaRPr lang="hu-HU" dirty="0"/>
          </a:p>
          <a:p>
            <a:r>
              <a:rPr lang="hu-HU" dirty="0">
                <a:ea typeface="+mn-lt"/>
                <a:cs typeface="+mn-lt"/>
              </a:rPr>
              <a:t>3. **Alvás </a:t>
            </a:r>
            <a:r>
              <a:rPr lang="hu-HU" dirty="0" err="1">
                <a:ea typeface="+mn-lt"/>
                <a:cs typeface="+mn-lt"/>
              </a:rPr>
              <a:t>Tracker</a:t>
            </a:r>
            <a:r>
              <a:rPr lang="hu-HU" dirty="0">
                <a:ea typeface="+mn-lt"/>
                <a:cs typeface="+mn-lt"/>
              </a:rPr>
              <a:t>** - Alvásminőség nyomon követése</a:t>
            </a:r>
            <a:endParaRPr lang="hu-HU" dirty="0"/>
          </a:p>
          <a:p>
            <a:r>
              <a:rPr lang="hu-HU" dirty="0">
                <a:ea typeface="+mn-lt"/>
                <a:cs typeface="+mn-lt"/>
              </a:rPr>
              <a:t>4. **Stressz Kvíz** - </a:t>
            </a:r>
            <a:r>
              <a:rPr lang="hu-HU" dirty="0" err="1">
                <a:ea typeface="+mn-lt"/>
                <a:cs typeface="+mn-lt"/>
              </a:rPr>
              <a:t>Burnout</a:t>
            </a:r>
            <a:r>
              <a:rPr lang="hu-HU" dirty="0">
                <a:ea typeface="+mn-lt"/>
                <a:cs typeface="+mn-lt"/>
              </a:rPr>
              <a:t> kockázat értékelés</a:t>
            </a:r>
            <a:endParaRPr lang="hu-HU" dirty="0"/>
          </a:p>
          <a:p>
            <a:r>
              <a:rPr lang="hu-HU" dirty="0">
                <a:ea typeface="+mn-lt"/>
                <a:cs typeface="+mn-lt"/>
              </a:rPr>
              <a:t>5. **Célkitűzések** - SMART célok követése</a:t>
            </a:r>
            <a:endParaRPr lang="hu-HU" dirty="0"/>
          </a:p>
          <a:p>
            <a:endParaRPr lang="hu-HU"/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2556554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0865D0E-ABE8-C015-A6E3-4402F860A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ea typeface="+mj-lt"/>
                <a:cs typeface="+mj-lt"/>
              </a:rPr>
              <a:t>ADATBÁZIS STRUKTÚRA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0E4A05D-88F4-9747-B173-509A6C515C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hu-HU" dirty="0">
                <a:ea typeface="+mn-lt"/>
                <a:cs typeface="+mn-lt"/>
              </a:rPr>
              <a:t>**</a:t>
            </a:r>
            <a:r>
              <a:rPr lang="hu-HU" dirty="0" err="1">
                <a:ea typeface="+mn-lt"/>
                <a:cs typeface="+mn-lt"/>
              </a:rPr>
              <a:t>MySQL</a:t>
            </a:r>
            <a:r>
              <a:rPr lang="hu-HU" dirty="0">
                <a:ea typeface="+mn-lt"/>
                <a:cs typeface="+mn-lt"/>
              </a:rPr>
              <a:t> Táblák:**</a:t>
            </a:r>
            <a:endParaRPr lang="hu-HU" dirty="0"/>
          </a:p>
          <a:p>
            <a:endParaRPr lang="hu-HU"/>
          </a:p>
          <a:p>
            <a:r>
              <a:rPr lang="hu-HU" dirty="0">
                <a:ea typeface="+mn-lt"/>
                <a:cs typeface="+mn-lt"/>
              </a:rPr>
              <a:t>**1. </a:t>
            </a:r>
            <a:r>
              <a:rPr lang="hu-HU" dirty="0" err="1">
                <a:ea typeface="+mn-lt"/>
                <a:cs typeface="+mn-lt"/>
              </a:rPr>
              <a:t>users</a:t>
            </a:r>
            <a:r>
              <a:rPr lang="hu-HU" dirty="0">
                <a:ea typeface="+mn-lt"/>
                <a:cs typeface="+mn-lt"/>
              </a:rPr>
              <a:t> tábla:**</a:t>
            </a:r>
            <a:endParaRPr lang="hu-HU" dirty="0"/>
          </a:p>
          <a:p>
            <a:r>
              <a:rPr lang="hu-HU" dirty="0">
                <a:ea typeface="+mn-lt"/>
                <a:cs typeface="+mn-lt"/>
              </a:rPr>
              <a:t>```</a:t>
            </a:r>
            <a:r>
              <a:rPr lang="hu-HU" dirty="0" err="1">
                <a:ea typeface="+mn-lt"/>
                <a:cs typeface="+mn-lt"/>
              </a:rPr>
              <a:t>sql</a:t>
            </a:r>
            <a:endParaRPr lang="hu-HU" dirty="0" err="1"/>
          </a:p>
          <a:p>
            <a:r>
              <a:rPr lang="hu-HU" dirty="0">
                <a:ea typeface="+mn-lt"/>
                <a:cs typeface="+mn-lt"/>
              </a:rPr>
              <a:t>- </a:t>
            </a:r>
            <a:r>
              <a:rPr lang="hu-HU" dirty="0" err="1">
                <a:ea typeface="+mn-lt"/>
                <a:cs typeface="+mn-lt"/>
              </a:rPr>
              <a:t>id</a:t>
            </a:r>
            <a:r>
              <a:rPr lang="hu-HU" dirty="0">
                <a:ea typeface="+mn-lt"/>
                <a:cs typeface="+mn-lt"/>
              </a:rPr>
              <a:t> (PRIMARY KEY, AUTO_INCREMENT)</a:t>
            </a:r>
            <a:endParaRPr lang="hu-HU" dirty="0"/>
          </a:p>
          <a:p>
            <a:r>
              <a:rPr lang="hu-HU" dirty="0">
                <a:ea typeface="+mn-lt"/>
                <a:cs typeface="+mn-lt"/>
              </a:rPr>
              <a:t>- </a:t>
            </a:r>
            <a:r>
              <a:rPr lang="hu-HU" dirty="0" err="1">
                <a:ea typeface="+mn-lt"/>
                <a:cs typeface="+mn-lt"/>
              </a:rPr>
              <a:t>username</a:t>
            </a:r>
            <a:r>
              <a:rPr lang="hu-HU" dirty="0">
                <a:ea typeface="+mn-lt"/>
                <a:cs typeface="+mn-lt"/>
              </a:rPr>
              <a:t> (UNIQUE, NOT NULL)</a:t>
            </a:r>
            <a:endParaRPr lang="hu-HU" dirty="0"/>
          </a:p>
          <a:p>
            <a:r>
              <a:rPr lang="hu-HU" dirty="0">
                <a:ea typeface="+mn-lt"/>
                <a:cs typeface="+mn-lt"/>
              </a:rPr>
              <a:t>- email (UNIQUE, NOT NULL)  </a:t>
            </a:r>
            <a:endParaRPr lang="hu-HU" dirty="0"/>
          </a:p>
          <a:p>
            <a:r>
              <a:rPr lang="hu-HU" dirty="0">
                <a:ea typeface="+mn-lt"/>
                <a:cs typeface="+mn-lt"/>
              </a:rPr>
              <a:t>- </a:t>
            </a:r>
            <a:r>
              <a:rPr lang="hu-HU" dirty="0" err="1">
                <a:ea typeface="+mn-lt"/>
                <a:cs typeface="+mn-lt"/>
              </a:rPr>
              <a:t>password_hash</a:t>
            </a:r>
            <a:r>
              <a:rPr lang="hu-HU" dirty="0">
                <a:ea typeface="+mn-lt"/>
                <a:cs typeface="+mn-lt"/>
              </a:rPr>
              <a:t> (NOT NULL) - </a:t>
            </a:r>
            <a:r>
              <a:rPr lang="hu-HU" dirty="0" err="1">
                <a:ea typeface="+mn-lt"/>
                <a:cs typeface="+mn-lt"/>
              </a:rPr>
              <a:t>bcrypt</a:t>
            </a:r>
            <a:r>
              <a:rPr lang="hu-HU" dirty="0">
                <a:ea typeface="+mn-lt"/>
                <a:cs typeface="+mn-lt"/>
              </a:rPr>
              <a:t> </a:t>
            </a:r>
            <a:r>
              <a:rPr lang="hu-HU" dirty="0" err="1">
                <a:ea typeface="+mn-lt"/>
                <a:cs typeface="+mn-lt"/>
              </a:rPr>
              <a:t>hash</a:t>
            </a:r>
            <a:endParaRPr lang="hu-HU" dirty="0" err="1"/>
          </a:p>
          <a:p>
            <a:r>
              <a:rPr lang="hu-HU" dirty="0">
                <a:ea typeface="+mn-lt"/>
                <a:cs typeface="+mn-lt"/>
              </a:rPr>
              <a:t>- </a:t>
            </a:r>
            <a:r>
              <a:rPr lang="hu-HU" dirty="0" err="1">
                <a:ea typeface="+mn-lt"/>
                <a:cs typeface="+mn-lt"/>
              </a:rPr>
              <a:t>created_at</a:t>
            </a:r>
            <a:r>
              <a:rPr lang="hu-HU" dirty="0">
                <a:ea typeface="+mn-lt"/>
                <a:cs typeface="+mn-lt"/>
              </a:rPr>
              <a:t> (TIMESTAMP)</a:t>
            </a:r>
            <a:endParaRPr lang="hu-HU" dirty="0"/>
          </a:p>
          <a:p>
            <a:r>
              <a:rPr lang="hu-HU" dirty="0">
                <a:ea typeface="+mn-lt"/>
                <a:cs typeface="+mn-lt"/>
              </a:rPr>
              <a:t>```</a:t>
            </a:r>
            <a:endParaRPr lang="hu-HU" dirty="0"/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0981530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EF40A956-1529-9087-023F-B5E7481A5A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4041648" cy="1928741"/>
          </a:xfrm>
        </p:spPr>
        <p:txBody>
          <a:bodyPr>
            <a:normAutofit/>
          </a:bodyPr>
          <a:lstStyle/>
          <a:p>
            <a:r>
              <a:rPr lang="hu-HU" dirty="0"/>
              <a:t>ADATBÁZIS STRUKTÚRA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3900"/>
            <a:ext cx="1058875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Kép 3" descr="A képen szöveg, képernyőkép, Betűtípus, szám látható&#10;&#10;Lehet, hogy az AI által létrehozott tartalom helytelen.">
            <a:extLst>
              <a:ext uri="{FF2B5EF4-FFF2-40B4-BE49-F238E27FC236}">
                <a16:creationId xmlns:a16="http://schemas.microsoft.com/office/drawing/2014/main" id="{C9C7686E-EED5-3BE1-D76D-ACE8CEE900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111" y="3139866"/>
            <a:ext cx="3941064" cy="2843970"/>
          </a:xfrm>
          <a:prstGeom prst="rect">
            <a:avLst/>
          </a:prstGeom>
        </p:spPr>
      </p:pic>
      <p:sp>
        <p:nvSpPr>
          <p:cNvPr id="3" name="Tartalom helye 2">
            <a:extLst>
              <a:ext uri="{FF2B5EF4-FFF2-40B4-BE49-F238E27FC236}">
                <a16:creationId xmlns:a16="http://schemas.microsoft.com/office/drawing/2014/main" id="{A09E0183-A619-0B84-A94A-05220BF797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0952" y="968377"/>
            <a:ext cx="6144768" cy="5010912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00000"/>
              </a:lnSpc>
            </a:pPr>
            <a:r>
              <a:rPr lang="hu-HU" dirty="0">
                <a:ea typeface="+mn-lt"/>
                <a:cs typeface="+mn-lt"/>
              </a:rPr>
              <a:t>**2. </a:t>
            </a:r>
            <a:r>
              <a:rPr lang="hu-HU" dirty="0" err="1">
                <a:ea typeface="+mn-lt"/>
                <a:cs typeface="+mn-lt"/>
              </a:rPr>
              <a:t>alcohol_entries</a:t>
            </a:r>
            <a:r>
              <a:rPr lang="hu-HU" dirty="0">
                <a:ea typeface="+mn-lt"/>
                <a:cs typeface="+mn-lt"/>
              </a:rPr>
              <a:t> tábla:**</a:t>
            </a:r>
            <a:endParaRPr lang="hu-HU"/>
          </a:p>
          <a:p>
            <a:pPr>
              <a:lnSpc>
                <a:spcPct val="100000"/>
              </a:lnSpc>
            </a:pPr>
            <a:r>
              <a:rPr lang="hu-HU" dirty="0">
                <a:ea typeface="+mn-lt"/>
                <a:cs typeface="+mn-lt"/>
              </a:rPr>
              <a:t>```</a:t>
            </a:r>
            <a:r>
              <a:rPr lang="hu-HU" dirty="0" err="1">
                <a:ea typeface="+mn-lt"/>
                <a:cs typeface="+mn-lt"/>
              </a:rPr>
              <a:t>sql</a:t>
            </a:r>
            <a:endParaRPr lang="hu-HU" err="1"/>
          </a:p>
          <a:p>
            <a:pPr>
              <a:lnSpc>
                <a:spcPct val="100000"/>
              </a:lnSpc>
            </a:pPr>
            <a:r>
              <a:rPr lang="hu-HU" dirty="0">
                <a:ea typeface="+mn-lt"/>
                <a:cs typeface="+mn-lt"/>
              </a:rPr>
              <a:t>- </a:t>
            </a:r>
            <a:r>
              <a:rPr lang="hu-HU" dirty="0" err="1">
                <a:ea typeface="+mn-lt"/>
                <a:cs typeface="+mn-lt"/>
              </a:rPr>
              <a:t>id</a:t>
            </a:r>
            <a:r>
              <a:rPr lang="hu-HU" dirty="0">
                <a:ea typeface="+mn-lt"/>
                <a:cs typeface="+mn-lt"/>
              </a:rPr>
              <a:t> (PRIMARY KEY)</a:t>
            </a:r>
            <a:endParaRPr lang="hu-HU"/>
          </a:p>
          <a:p>
            <a:pPr>
              <a:lnSpc>
                <a:spcPct val="100000"/>
              </a:lnSpc>
            </a:pPr>
            <a:r>
              <a:rPr lang="hu-HU" dirty="0">
                <a:ea typeface="+mn-lt"/>
                <a:cs typeface="+mn-lt"/>
              </a:rPr>
              <a:t>- </a:t>
            </a:r>
            <a:r>
              <a:rPr lang="hu-HU" dirty="0" err="1">
                <a:ea typeface="+mn-lt"/>
                <a:cs typeface="+mn-lt"/>
              </a:rPr>
              <a:t>user_id</a:t>
            </a:r>
            <a:r>
              <a:rPr lang="hu-HU" dirty="0">
                <a:ea typeface="+mn-lt"/>
                <a:cs typeface="+mn-lt"/>
              </a:rPr>
              <a:t> (FOREIGN KEY → users.id)</a:t>
            </a:r>
            <a:endParaRPr lang="hu-HU"/>
          </a:p>
          <a:p>
            <a:pPr>
              <a:lnSpc>
                <a:spcPct val="100000"/>
              </a:lnSpc>
            </a:pPr>
            <a:r>
              <a:rPr lang="hu-HU" dirty="0">
                <a:ea typeface="+mn-lt"/>
                <a:cs typeface="+mn-lt"/>
              </a:rPr>
              <a:t>- </a:t>
            </a:r>
            <a:r>
              <a:rPr lang="hu-HU" dirty="0" err="1">
                <a:ea typeface="+mn-lt"/>
                <a:cs typeface="+mn-lt"/>
              </a:rPr>
              <a:t>drink_type</a:t>
            </a:r>
            <a:r>
              <a:rPr lang="hu-HU" dirty="0">
                <a:ea typeface="+mn-lt"/>
                <a:cs typeface="+mn-lt"/>
              </a:rPr>
              <a:t> (VARCHAR)</a:t>
            </a:r>
            <a:endParaRPr lang="hu-HU"/>
          </a:p>
          <a:p>
            <a:pPr>
              <a:lnSpc>
                <a:spcPct val="100000"/>
              </a:lnSpc>
            </a:pPr>
            <a:r>
              <a:rPr lang="hu-HU" dirty="0">
                <a:ea typeface="+mn-lt"/>
                <a:cs typeface="+mn-lt"/>
              </a:rPr>
              <a:t>- </a:t>
            </a:r>
            <a:r>
              <a:rPr lang="hu-HU" dirty="0" err="1">
                <a:ea typeface="+mn-lt"/>
                <a:cs typeface="+mn-lt"/>
              </a:rPr>
              <a:t>amount_ml</a:t>
            </a:r>
            <a:r>
              <a:rPr lang="hu-HU" dirty="0">
                <a:ea typeface="+mn-lt"/>
                <a:cs typeface="+mn-lt"/>
              </a:rPr>
              <a:t> (INT)</a:t>
            </a:r>
            <a:endParaRPr lang="hu-HU"/>
          </a:p>
          <a:p>
            <a:pPr>
              <a:lnSpc>
                <a:spcPct val="100000"/>
              </a:lnSpc>
            </a:pPr>
            <a:r>
              <a:rPr lang="hu-HU" dirty="0">
                <a:ea typeface="+mn-lt"/>
                <a:cs typeface="+mn-lt"/>
              </a:rPr>
              <a:t>- </a:t>
            </a:r>
            <a:r>
              <a:rPr lang="hu-HU" dirty="0" err="1">
                <a:ea typeface="+mn-lt"/>
                <a:cs typeface="+mn-lt"/>
              </a:rPr>
              <a:t>alcohol_percentage</a:t>
            </a:r>
            <a:r>
              <a:rPr lang="hu-HU" dirty="0">
                <a:ea typeface="+mn-lt"/>
                <a:cs typeface="+mn-lt"/>
              </a:rPr>
              <a:t> (DECIMAL)</a:t>
            </a:r>
            <a:endParaRPr lang="hu-HU"/>
          </a:p>
          <a:p>
            <a:pPr>
              <a:lnSpc>
                <a:spcPct val="100000"/>
              </a:lnSpc>
            </a:pPr>
            <a:r>
              <a:rPr lang="hu-HU" dirty="0">
                <a:ea typeface="+mn-lt"/>
                <a:cs typeface="+mn-lt"/>
              </a:rPr>
              <a:t>- </a:t>
            </a:r>
            <a:r>
              <a:rPr lang="hu-HU" dirty="0" err="1">
                <a:ea typeface="+mn-lt"/>
                <a:cs typeface="+mn-lt"/>
              </a:rPr>
              <a:t>calories</a:t>
            </a:r>
            <a:r>
              <a:rPr lang="hu-HU" dirty="0">
                <a:ea typeface="+mn-lt"/>
                <a:cs typeface="+mn-lt"/>
              </a:rPr>
              <a:t> (INT)</a:t>
            </a:r>
            <a:endParaRPr lang="hu-HU"/>
          </a:p>
          <a:p>
            <a:pPr>
              <a:lnSpc>
                <a:spcPct val="100000"/>
              </a:lnSpc>
            </a:pPr>
            <a:r>
              <a:rPr lang="hu-HU" dirty="0">
                <a:ea typeface="+mn-lt"/>
                <a:cs typeface="+mn-lt"/>
              </a:rPr>
              <a:t>- </a:t>
            </a:r>
            <a:r>
              <a:rPr lang="hu-HU" dirty="0" err="1">
                <a:ea typeface="+mn-lt"/>
                <a:cs typeface="+mn-lt"/>
              </a:rPr>
              <a:t>date</a:t>
            </a:r>
            <a:r>
              <a:rPr lang="hu-HU" dirty="0">
                <a:ea typeface="+mn-lt"/>
                <a:cs typeface="+mn-lt"/>
              </a:rPr>
              <a:t> (DATE)</a:t>
            </a:r>
            <a:endParaRPr lang="hu-HU"/>
          </a:p>
          <a:p>
            <a:pPr>
              <a:lnSpc>
                <a:spcPct val="100000"/>
              </a:lnSpc>
            </a:pPr>
            <a:r>
              <a:rPr lang="hu-HU" dirty="0">
                <a:ea typeface="+mn-lt"/>
                <a:cs typeface="+mn-lt"/>
              </a:rPr>
              <a:t>- </a:t>
            </a:r>
            <a:r>
              <a:rPr lang="hu-HU" dirty="0" err="1">
                <a:ea typeface="+mn-lt"/>
                <a:cs typeface="+mn-lt"/>
              </a:rPr>
              <a:t>created_at</a:t>
            </a:r>
            <a:r>
              <a:rPr lang="hu-HU" dirty="0">
                <a:ea typeface="+mn-lt"/>
                <a:cs typeface="+mn-lt"/>
              </a:rPr>
              <a:t> (TIMESTAMP)</a:t>
            </a:r>
            <a:endParaRPr lang="hu-HU"/>
          </a:p>
          <a:p>
            <a:pPr>
              <a:lnSpc>
                <a:spcPct val="100000"/>
              </a:lnSpc>
            </a:pPr>
            <a:r>
              <a:rPr lang="hu-HU" dirty="0">
                <a:ea typeface="+mn-lt"/>
                <a:cs typeface="+mn-lt"/>
              </a:rPr>
              <a:t>```</a:t>
            </a:r>
            <a:endParaRPr lang="hu-HU"/>
          </a:p>
          <a:p>
            <a:pPr>
              <a:lnSpc>
                <a:spcPct val="100000"/>
              </a:lnSpc>
            </a:pPr>
            <a:endParaRPr lang="hu-HU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E0104E4-99BC-494F-8342-F250828E57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9065" y="6145599"/>
            <a:ext cx="105828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31647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24F52F5-C329-70DF-5630-DD0E40F6E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VERZIÓ KEZELÉS ÉS KOLLABORÁCIÓ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5AB95B2-64B6-AAA9-B5BC-FBD20E4981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hu-HU" dirty="0">
                <a:ea typeface="+mn-lt"/>
                <a:cs typeface="+mn-lt"/>
              </a:rPr>
              <a:t>**GitHub </a:t>
            </a:r>
            <a:r>
              <a:rPr lang="hu-HU" dirty="0" err="1">
                <a:ea typeface="+mn-lt"/>
                <a:cs typeface="+mn-lt"/>
              </a:rPr>
              <a:t>Repository</a:t>
            </a:r>
            <a:r>
              <a:rPr lang="hu-HU" dirty="0">
                <a:ea typeface="+mn-lt"/>
                <a:cs typeface="+mn-lt"/>
              </a:rPr>
              <a:t>:**</a:t>
            </a:r>
            <a:endParaRPr lang="hu-HU" b="1" dirty="0"/>
          </a:p>
          <a:p>
            <a:r>
              <a:rPr lang="hu-HU" dirty="0">
                <a:ea typeface="+mn-lt"/>
                <a:cs typeface="+mn-lt"/>
              </a:rPr>
              <a:t>- **Verziókezelés:** </a:t>
            </a:r>
            <a:r>
              <a:rPr lang="hu-HU" dirty="0" err="1">
                <a:ea typeface="+mn-lt"/>
                <a:cs typeface="+mn-lt"/>
              </a:rPr>
              <a:t>Git</a:t>
            </a:r>
            <a:r>
              <a:rPr lang="hu-HU" dirty="0">
                <a:ea typeface="+mn-lt"/>
                <a:cs typeface="+mn-lt"/>
              </a:rPr>
              <a:t> használata a teljes projekt menedzselésére</a:t>
            </a:r>
            <a:endParaRPr lang="hu-HU" dirty="0"/>
          </a:p>
          <a:p>
            <a:r>
              <a:rPr lang="hu-HU" dirty="0">
                <a:ea typeface="+mn-lt"/>
                <a:cs typeface="+mn-lt"/>
              </a:rPr>
              <a:t>- **Közös munka:** Csapatmunka lehetősége </a:t>
            </a:r>
            <a:r>
              <a:rPr lang="hu-HU" dirty="0" err="1">
                <a:ea typeface="+mn-lt"/>
                <a:cs typeface="+mn-lt"/>
              </a:rPr>
              <a:t>branch-ekkel</a:t>
            </a:r>
            <a:endParaRPr lang="hu-HU" dirty="0" err="1"/>
          </a:p>
          <a:p>
            <a:r>
              <a:rPr lang="hu-HU" dirty="0">
                <a:ea typeface="+mn-lt"/>
                <a:cs typeface="+mn-lt"/>
              </a:rPr>
              <a:t>- **</a:t>
            </a:r>
            <a:r>
              <a:rPr lang="hu-HU" dirty="0" err="1">
                <a:ea typeface="+mn-lt"/>
                <a:cs typeface="+mn-lt"/>
              </a:rPr>
              <a:t>Commit</a:t>
            </a:r>
            <a:r>
              <a:rPr lang="hu-HU" dirty="0">
                <a:ea typeface="+mn-lt"/>
                <a:cs typeface="+mn-lt"/>
              </a:rPr>
              <a:t> </a:t>
            </a:r>
            <a:r>
              <a:rPr lang="hu-HU" dirty="0" err="1">
                <a:ea typeface="+mn-lt"/>
                <a:cs typeface="+mn-lt"/>
              </a:rPr>
              <a:t>history</a:t>
            </a:r>
            <a:r>
              <a:rPr lang="hu-HU" dirty="0">
                <a:ea typeface="+mn-lt"/>
                <a:cs typeface="+mn-lt"/>
              </a:rPr>
              <a:t>:** Minden változás dokumentálva</a:t>
            </a:r>
            <a:endParaRPr lang="hu-HU" dirty="0"/>
          </a:p>
          <a:p>
            <a:r>
              <a:rPr lang="hu-HU" dirty="0">
                <a:ea typeface="+mn-lt"/>
                <a:cs typeface="+mn-lt"/>
              </a:rPr>
              <a:t>- **</a:t>
            </a:r>
            <a:r>
              <a:rPr lang="hu-HU" dirty="0" err="1">
                <a:ea typeface="+mn-lt"/>
                <a:cs typeface="+mn-lt"/>
              </a:rPr>
              <a:t>Code</a:t>
            </a:r>
            <a:r>
              <a:rPr lang="hu-HU" dirty="0">
                <a:ea typeface="+mn-lt"/>
                <a:cs typeface="+mn-lt"/>
              </a:rPr>
              <a:t> </a:t>
            </a:r>
            <a:r>
              <a:rPr lang="hu-HU" dirty="0" err="1">
                <a:ea typeface="+mn-lt"/>
                <a:cs typeface="+mn-lt"/>
              </a:rPr>
              <a:t>review</a:t>
            </a:r>
            <a:r>
              <a:rPr lang="hu-HU" dirty="0">
                <a:ea typeface="+mn-lt"/>
                <a:cs typeface="+mn-lt"/>
              </a:rPr>
              <a:t>:** </a:t>
            </a:r>
            <a:r>
              <a:rPr lang="hu-HU" dirty="0" err="1">
                <a:ea typeface="+mn-lt"/>
                <a:cs typeface="+mn-lt"/>
              </a:rPr>
              <a:t>Pull</a:t>
            </a:r>
            <a:r>
              <a:rPr lang="hu-HU" dirty="0">
                <a:ea typeface="+mn-lt"/>
                <a:cs typeface="+mn-lt"/>
              </a:rPr>
              <a:t> </a:t>
            </a:r>
            <a:r>
              <a:rPr lang="hu-HU" dirty="0" err="1">
                <a:ea typeface="+mn-lt"/>
                <a:cs typeface="+mn-lt"/>
              </a:rPr>
              <a:t>request</a:t>
            </a:r>
            <a:r>
              <a:rPr lang="hu-HU" dirty="0">
                <a:ea typeface="+mn-lt"/>
                <a:cs typeface="+mn-lt"/>
              </a:rPr>
              <a:t> alapú munkafolyamat</a:t>
            </a:r>
            <a:endParaRPr lang="hu-HU" dirty="0"/>
          </a:p>
          <a:p>
            <a:r>
              <a:rPr lang="hu-HU" dirty="0">
                <a:ea typeface="+mn-lt"/>
                <a:cs typeface="+mn-lt"/>
              </a:rPr>
              <a:t>- **Backup:** Felhő alapú biztonságos tárolás</a:t>
            </a:r>
            <a:endParaRPr lang="hu-HU" dirty="0"/>
          </a:p>
          <a:p>
            <a:endParaRPr lang="hu-HU" b="1" dirty="0"/>
          </a:p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638587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8799F66-9E1D-AA1D-4749-F2780F14B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VERZIÓ KEZELÉS ÉS KOLLABORÁCIÓ</a:t>
            </a:r>
          </a:p>
          <a:p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3D2D8A4-A8C3-2FD5-4738-90BC0D72CB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hu-HU" dirty="0" err="1"/>
              <a:t>Trello</a:t>
            </a:r>
            <a:r>
              <a:rPr lang="hu-HU" dirty="0"/>
              <a:t> dokumentáció munkamegosztás</a:t>
            </a:r>
          </a:p>
        </p:txBody>
      </p:sp>
      <p:pic>
        <p:nvPicPr>
          <p:cNvPr id="4" name="Kép 3" descr="A képen Emberi arc, képernyőkép, szöveg, személy látható&#10;&#10;Lehet, hogy az AI által létrehozott tartalom helytelen.">
            <a:extLst>
              <a:ext uri="{FF2B5EF4-FFF2-40B4-BE49-F238E27FC236}">
                <a16:creationId xmlns:a16="http://schemas.microsoft.com/office/drawing/2014/main" id="{100C10B6-AAC6-9686-2623-2A18BE2D80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647" y="2672814"/>
            <a:ext cx="5775833" cy="2991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7903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9BF4FBC-C837-D8F6-CCBC-98A9D2883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VERZIÓ KEZELÉS ÉS KOLLABORÁCIÓ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75608F1-94E4-2673-D9EB-7005F92359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hu-HU" dirty="0" err="1"/>
              <a:t>Github</a:t>
            </a:r>
            <a:r>
              <a:rPr lang="hu-HU" dirty="0"/>
              <a:t> </a:t>
            </a:r>
            <a:r>
              <a:rPr lang="hu-HU" dirty="0" err="1"/>
              <a:t>page</a:t>
            </a:r>
            <a:r>
              <a:rPr lang="hu-HU" dirty="0"/>
              <a:t> (</a:t>
            </a:r>
            <a:r>
              <a:rPr lang="hu-HU" dirty="0">
                <a:ea typeface="+mn-lt"/>
                <a:cs typeface="+mn-lt"/>
                <a:hlinkClick r:id="rId2"/>
              </a:rPr>
              <a:t>https://github.com/orgs/Loero/repositories</a:t>
            </a:r>
            <a:r>
              <a:rPr lang="hu-HU" dirty="0"/>
              <a:t>)</a:t>
            </a:r>
            <a:br>
              <a:rPr lang="hu-HU" dirty="0"/>
            </a:br>
            <a:endParaRPr lang="hu-HU" dirty="0"/>
          </a:p>
        </p:txBody>
      </p:sp>
      <p:pic>
        <p:nvPicPr>
          <p:cNvPr id="4" name="Kép 3" descr="A képen szöveg, képernyőkép, szoftver, Multimédiás szoftver látható&#10;&#10;Lehet, hogy az AI által létrehozott tartalom helytelen.">
            <a:extLst>
              <a:ext uri="{FF2B5EF4-FFF2-40B4-BE49-F238E27FC236}">
                <a16:creationId xmlns:a16="http://schemas.microsoft.com/office/drawing/2014/main" id="{31C7791A-FCA8-DBCD-BCB1-D204EBD9DD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538" y="2790466"/>
            <a:ext cx="7684034" cy="2929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0594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96E616B-E51E-4FFE-5519-41819369349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hu-HU" dirty="0">
                <a:ea typeface="+mj-lt"/>
                <a:cs typeface="+mj-lt"/>
              </a:rPr>
              <a:t>Köszönjük a figyelmet!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2E26247-022A-711C-68B0-0CF67BEF7E2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dirty="0"/>
              <a:t>A csapat tagjai: Müller Zsolt, Rajna Torda, Csillik Gergely</a:t>
            </a:r>
          </a:p>
        </p:txBody>
      </p:sp>
    </p:spTree>
    <p:extLst>
      <p:ext uri="{BB962C8B-B14F-4D97-AF65-F5344CB8AC3E}">
        <p14:creationId xmlns:p14="http://schemas.microsoft.com/office/powerpoint/2010/main" val="389099504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Szélesvásznú</PresentationFormat>
  <Paragraphs>0</Paragraphs>
  <Slides>20</Slides>
  <Notes>0</Notes>
  <HiddenSlides>0</HiddenSlides>
  <MMClips>0</MMClips>
  <ScaleCrop>false</ScaleCrop>
  <HeadingPairs>
    <vt:vector size="4" baseType="variant">
      <vt:variant>
        <vt:lpstr>Téma</vt:lpstr>
      </vt:variant>
      <vt:variant>
        <vt:i4>1</vt:i4>
      </vt:variant>
      <vt:variant>
        <vt:lpstr>Diacímek</vt:lpstr>
      </vt:variant>
      <vt:variant>
        <vt:i4>20</vt:i4>
      </vt:variant>
    </vt:vector>
  </HeadingPairs>
  <TitlesOfParts>
    <vt:vector size="21" baseType="lpstr">
      <vt:lpstr>ChronicleVTI</vt:lpstr>
      <vt:lpstr>ASCENSION</vt:lpstr>
      <vt:lpstr>Egy komplex webalkalmazás, amely ötvözi a </vt:lpstr>
      <vt:lpstr>Koncepció</vt:lpstr>
      <vt:lpstr>PROJEKT CÉL ÉS VÍZIÓ</vt:lpstr>
      <vt:lpstr>Full-stack architektúra</vt:lpstr>
      <vt:lpstr>FRONTEND FELÉPÍTÉS</vt:lpstr>
      <vt:lpstr>FRONTEND FELÉPÍTÉS </vt:lpstr>
      <vt:lpstr>AUTHENTIKÁCIÓ RENDSZER</vt:lpstr>
      <vt:lpstr>AUTHENTIKÁCIÓ RENDSZER</vt:lpstr>
      <vt:lpstr>USDA ÉTEL ADATBÁZIS</vt:lpstr>
      <vt:lpstr>USDA ÉTEL ADATBÁZIS</vt:lpstr>
      <vt:lpstr>TEST MODUL RÉSZLETESEN</vt:lpstr>
      <vt:lpstr>tEST MODUL RÉSZLETESEN</vt:lpstr>
      <vt:lpstr>MENTÁL MODUL RÉSZLETESEN</vt:lpstr>
      <vt:lpstr>ADATBÁZIS STRUKTÚRA</vt:lpstr>
      <vt:lpstr>ADATBÁZIS STRUKTÚRA</vt:lpstr>
      <vt:lpstr>VERZIÓ KEZELÉS ÉS KOLLABORÁCIÓ</vt:lpstr>
      <vt:lpstr>VERZIÓ KEZELÉS ÉS KOLLABORÁCIÓ </vt:lpstr>
      <vt:lpstr>VERZIÓ KEZELÉS ÉS KOLLABORÁCIÓ</vt:lpstr>
      <vt:lpstr>Köszönjük a figyelmet!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116</cp:revision>
  <dcterms:created xsi:type="dcterms:W3CDTF">2026-02-23T20:51:51Z</dcterms:created>
  <dcterms:modified xsi:type="dcterms:W3CDTF">2026-02-23T21:19:32Z</dcterms:modified>
</cp:coreProperties>
</file>